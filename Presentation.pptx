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0"/>
  </p:handoutMasterIdLst>
  <p:sldIdLst>
    <p:sldId id="256" r:id="rId3"/>
    <p:sldId id="287" r:id="rId4"/>
    <p:sldId id="288" r:id="rId6"/>
    <p:sldId id="292" r:id="rId7"/>
    <p:sldId id="293" r:id="rId8"/>
    <p:sldId id="295" r:id="rId9"/>
    <p:sldId id="289" r:id="rId10"/>
    <p:sldId id="319" r:id="rId11"/>
    <p:sldId id="290" r:id="rId12"/>
    <p:sldId id="268" r:id="rId13"/>
    <p:sldId id="323" r:id="rId14"/>
    <p:sldId id="321" r:id="rId15"/>
    <p:sldId id="322" r:id="rId16"/>
    <p:sldId id="291" r:id="rId17"/>
    <p:sldId id="269" r:id="rId18"/>
    <p:sldId id="285" r:id="rId19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222" y="-6"/>
      </p:cViewPr>
      <p:guideLst>
        <p:guide orient="horz" pos="21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-110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anose="020F050202020403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anose="020F050202020403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Calibri" panose="020F050202020403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p>
            <a:pPr lvl="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 indent="0"/>
            <a:r>
              <a:rPr lang="zh-CN" altLang="en-US" dirty="0"/>
              <a:t>Second level</a:t>
            </a:r>
            <a:endParaRPr lang="zh-CN" altLang="en-US" dirty="0"/>
          </a:p>
          <a:p>
            <a:pPr lvl="2" indent="0"/>
            <a:r>
              <a:rPr lang="zh-CN" altLang="en-US" dirty="0"/>
              <a:t>Third level</a:t>
            </a:r>
            <a:endParaRPr lang="zh-CN" altLang="en-US" dirty="0"/>
          </a:p>
          <a:p>
            <a:pPr lvl="3" indent="0"/>
            <a:r>
              <a:rPr lang="zh-CN" altLang="en-US" dirty="0"/>
              <a:t>Fourth level</a:t>
            </a:r>
            <a:endParaRPr lang="zh-CN" altLang="en-US" dirty="0"/>
          </a:p>
          <a:p>
            <a:pPr lvl="4" indent="0"/>
            <a:r>
              <a:rPr lang="zh-CN" altLang="en-US" dirty="0"/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Calibri" panose="020F050202020403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F05245-1089-431C-9CB9-1C9E798A99A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22860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 indent="-228600"/>
            <a:r>
              <a:rPr lang="zh-CN" altLang="en-US" dirty="0"/>
              <a:t>Second level</a:t>
            </a:r>
            <a:endParaRPr lang="zh-CN" altLang="en-US" dirty="0"/>
          </a:p>
          <a:p>
            <a:pPr lvl="2" indent="-228600"/>
            <a:r>
              <a:rPr lang="zh-CN" altLang="en-US" dirty="0"/>
              <a:t>Third level</a:t>
            </a:r>
            <a:endParaRPr lang="zh-CN" altLang="en-US" dirty="0"/>
          </a:p>
          <a:p>
            <a:pPr lvl="3" indent="-228600"/>
            <a:r>
              <a:rPr lang="zh-CN" altLang="en-US" dirty="0"/>
              <a:t>Fourth level</a:t>
            </a:r>
            <a:endParaRPr lang="zh-CN" altLang="en-US" dirty="0"/>
          </a:p>
          <a:p>
            <a:pPr lvl="4" indent="-228600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F05245-1089-431C-9CB9-1C9E798A99A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wipe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jpe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7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-24765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098" name="组合 4"/>
          <p:cNvGrpSpPr/>
          <p:nvPr/>
        </p:nvGrpSpPr>
        <p:grpSpPr>
          <a:xfrm>
            <a:off x="3302000" y="1965325"/>
            <a:ext cx="5588000" cy="4134485"/>
            <a:chOff x="3457574" y="1641515"/>
            <a:chExt cx="5143501" cy="3804097"/>
          </a:xfrm>
        </p:grpSpPr>
        <p:grpSp>
          <p:nvGrpSpPr>
            <p:cNvPr id="4099" name="组合 5"/>
            <p:cNvGrpSpPr/>
            <p:nvPr/>
          </p:nvGrpSpPr>
          <p:grpSpPr>
            <a:xfrm>
              <a:off x="3590925" y="1980069"/>
              <a:ext cx="5010150" cy="679906"/>
              <a:chOff x="4324350" y="2295525"/>
              <a:chExt cx="3733800" cy="679906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04" name="组合 6"/>
            <p:cNvGrpSpPr/>
            <p:nvPr/>
          </p:nvGrpSpPr>
          <p:grpSpPr>
            <a:xfrm flipH="1" flipV="1">
              <a:off x="3457574" y="3370824"/>
              <a:ext cx="4951785" cy="726031"/>
              <a:chOff x="4324350" y="2295525"/>
              <a:chExt cx="3733800" cy="679906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10" name="文本框 8"/>
            <p:cNvSpPr txBox="1"/>
            <p:nvPr/>
          </p:nvSpPr>
          <p:spPr>
            <a:xfrm>
              <a:off x="4217994" y="4681988"/>
              <a:ext cx="3450237" cy="7636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defTabSz="914400"/>
              <a:r>
                <a:rPr lang="en-US" sz="2400" dirty="0">
                  <a:solidFill>
                    <a:srgbClr val="404040"/>
                  </a:solidFill>
                  <a:ea typeface="Calibri" panose="020F0502020204030204" pitchFamily="34" charset="0"/>
                  <a:sym typeface="Arial" panose="020B0604020202020204" pitchFamily="34" charset="0"/>
                </a:rPr>
                <a:t>Zhuoran Yu</a:t>
              </a:r>
              <a:endParaRPr 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endParaRPr>
            </a:p>
            <a:p>
              <a:pPr algn="ctr" defTabSz="914400"/>
              <a:r>
                <a:rPr lang="en-US" sz="2400" dirty="0">
                  <a:solidFill>
                    <a:srgbClr val="404040"/>
                  </a:solidFill>
                  <a:ea typeface="Calibri" panose="020F0502020204030204" pitchFamily="34" charset="0"/>
                  <a:sym typeface="Arial" panose="020B0604020202020204" pitchFamily="34" charset="0"/>
                </a:rPr>
                <a:t>MET CS779 Term Project</a:t>
              </a:r>
              <a:endParaRPr 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111" name="文本框 9"/>
            <p:cNvSpPr txBox="1"/>
            <p:nvPr/>
          </p:nvSpPr>
          <p:spPr>
            <a:xfrm>
              <a:off x="4495261" y="1641515"/>
              <a:ext cx="3316567" cy="310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defTabSz="914400"/>
              <a:endParaRPr lang="zh-CN" altLang="en-US" sz="16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2950210" y="2522855"/>
            <a:ext cx="596138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4000"/>
              <a:t>Data Warehouse</a:t>
            </a:r>
            <a:endParaRPr lang="en-US" sz="4000"/>
          </a:p>
          <a:p>
            <a:pPr algn="ctr"/>
            <a:endParaRPr lang="en-US" sz="4000"/>
          </a:p>
          <a:p>
            <a:pPr algn="ctr"/>
            <a:r>
              <a:rPr lang="en-US" sz="4000"/>
              <a:t>For Trading System</a:t>
            </a:r>
            <a:endParaRPr lang="en-US" sz="400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673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8674" name="组合 1"/>
          <p:cNvGrpSpPr/>
          <p:nvPr/>
        </p:nvGrpSpPr>
        <p:grpSpPr>
          <a:xfrm>
            <a:off x="211138" y="257175"/>
            <a:ext cx="558800" cy="4635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682" name="文本框 28"/>
          <p:cNvSpPr txBox="1"/>
          <p:nvPr/>
        </p:nvSpPr>
        <p:spPr>
          <a:xfrm>
            <a:off x="290513" y="254000"/>
            <a:ext cx="3744912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404040"/>
                </a:solidFill>
                <a:ea typeface="Calibri" panose="020F0502020204030204" pitchFamily="34" charset="0"/>
              </a:rPr>
              <a:t>OUTLINE</a:t>
            </a:r>
            <a:endParaRPr lang="zh-CN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2" name="直接连接符 24"/>
          <p:cNvSpPr>
            <a:spLocks noChangeShapeType="1"/>
          </p:cNvSpPr>
          <p:nvPr/>
        </p:nvSpPr>
        <p:spPr bwMode="auto">
          <a:xfrm flipH="1">
            <a:off x="3236913" y="3200400"/>
            <a:ext cx="1049338" cy="0"/>
          </a:xfrm>
          <a:prstGeom prst="line">
            <a:avLst/>
          </a:prstGeom>
          <a:noFill/>
          <a:ln w="12700" cmpd="sng">
            <a:solidFill>
              <a:srgbClr val="ADBACA"/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8684" name="TextBox 13"/>
          <p:cNvSpPr txBox="1"/>
          <p:nvPr/>
        </p:nvSpPr>
        <p:spPr>
          <a:xfrm>
            <a:off x="254000" y="2886075"/>
            <a:ext cx="2765425" cy="24574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p>
            <a:pPr algn="r" defTabSz="1216025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600" b="1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1. Intro and Requirments</a:t>
            </a:r>
            <a:endParaRPr lang="en-US" altLang="zh-CN" sz="1600" b="1" dirty="0">
              <a:solidFill>
                <a:srgbClr val="445469"/>
              </a:solidFill>
              <a:latin typeface="Arial" panose="020B0604020202020204" pitchFamily="34" charset="0"/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28685" name="TextBox 13"/>
          <p:cNvSpPr txBox="1"/>
          <p:nvPr/>
        </p:nvSpPr>
        <p:spPr>
          <a:xfrm>
            <a:off x="817563" y="3167063"/>
            <a:ext cx="2201862" cy="55372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p>
            <a:pPr algn="r" defTabSz="1216025">
              <a:spcBef>
                <a:spcPct val="20000"/>
              </a:spcBef>
            </a:pPr>
            <a:r>
              <a:rPr lang="en-US" altLang="zh-CN" sz="1200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A brief introduction to trading systems and requirements for designing a data warehouse</a:t>
            </a:r>
            <a:endParaRPr lang="en-US" altLang="zh-CN" sz="1200" dirty="0">
              <a:solidFill>
                <a:srgbClr val="445469"/>
              </a:solidFill>
              <a:latin typeface="Arial" panose="020B0604020202020204" pitchFamily="34" charset="0"/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28686" name="TextBox 13"/>
          <p:cNvSpPr txBox="1"/>
          <p:nvPr/>
        </p:nvSpPr>
        <p:spPr>
          <a:xfrm>
            <a:off x="7666355" y="1995805"/>
            <a:ext cx="2953385" cy="24574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p>
            <a:pPr defTabSz="1216025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600" b="1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4. Summary and </a:t>
            </a:r>
            <a:r>
              <a:rPr lang="en-US" altLang="zh-CN" sz="1600" b="1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Expectations</a:t>
            </a:r>
            <a:endParaRPr lang="en-US" altLang="zh-CN" sz="1600" b="1" dirty="0">
              <a:solidFill>
                <a:srgbClr val="445469"/>
              </a:solidFill>
              <a:latin typeface="Arial" panose="020B0604020202020204" pitchFamily="34" charset="0"/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28687" name="TextBox 13"/>
          <p:cNvSpPr txBox="1"/>
          <p:nvPr/>
        </p:nvSpPr>
        <p:spPr>
          <a:xfrm>
            <a:off x="7857808" y="2239963"/>
            <a:ext cx="2384425" cy="73850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Summarize some of the poiints learned throughout the project and the subsequent steps needed to improve the trading system.</a:t>
            </a:r>
            <a:endParaRPr lang="en-US" altLang="zh-CN" sz="1200" dirty="0">
              <a:solidFill>
                <a:srgbClr val="445469"/>
              </a:solidFill>
              <a:latin typeface="Arial" panose="020B0604020202020204" pitchFamily="34" charset="0"/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28688" name="TextBox 13"/>
          <p:cNvSpPr txBox="1"/>
          <p:nvPr/>
        </p:nvSpPr>
        <p:spPr>
          <a:xfrm>
            <a:off x="817880" y="5097780"/>
            <a:ext cx="2952750" cy="24574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p>
            <a:pPr algn="r" defTabSz="1216025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600" b="1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2. DataWarehouse Design</a:t>
            </a:r>
            <a:endParaRPr lang="en-US" altLang="zh-CN" sz="1600" b="1" dirty="0">
              <a:solidFill>
                <a:srgbClr val="445469"/>
              </a:solidFill>
              <a:latin typeface="Arial" panose="020B0604020202020204" pitchFamily="34" charset="0"/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28689" name="TextBox 13"/>
          <p:cNvSpPr txBox="1"/>
          <p:nvPr/>
        </p:nvSpPr>
        <p:spPr>
          <a:xfrm>
            <a:off x="1366838" y="5349875"/>
            <a:ext cx="2439987" cy="55372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p>
            <a:pPr algn="r" defTabSz="1216025">
              <a:spcBef>
                <a:spcPct val="20000"/>
              </a:spcBef>
            </a:pPr>
            <a:r>
              <a:rPr lang="en-US" altLang="zh-CN" sz="1200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Designing a Data Warehouse to Meet the Data Needs of the Strategy</a:t>
            </a:r>
            <a:endParaRPr lang="en-US" altLang="zh-CN" sz="1200" dirty="0">
              <a:solidFill>
                <a:srgbClr val="445469"/>
              </a:solidFill>
              <a:latin typeface="Arial" panose="020B0604020202020204" pitchFamily="34" charset="0"/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28690" name="TextBox 13"/>
          <p:cNvSpPr txBox="1"/>
          <p:nvPr/>
        </p:nvSpPr>
        <p:spPr>
          <a:xfrm>
            <a:off x="8599805" y="4241800"/>
            <a:ext cx="2952750" cy="24574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p>
            <a:pPr defTabSz="1216025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600" b="1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3. </a:t>
            </a:r>
            <a:r>
              <a:rPr lang="en-US" altLang="zh-CN" sz="1600" b="1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ETL, SQL, Visualization </a:t>
            </a:r>
            <a:endParaRPr lang="en-US" altLang="zh-CN" sz="1600" b="1" dirty="0">
              <a:solidFill>
                <a:srgbClr val="445469"/>
              </a:solidFill>
              <a:latin typeface="Arial" panose="020B0604020202020204" pitchFamily="34" charset="0"/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28691" name="TextBox 13"/>
          <p:cNvSpPr txBox="1"/>
          <p:nvPr/>
        </p:nvSpPr>
        <p:spPr>
          <a:xfrm>
            <a:off x="8593138" y="4557713"/>
            <a:ext cx="2349500" cy="55372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200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Processing data and designing sql to query the results and finally presenting the visualizations</a:t>
            </a:r>
            <a:endParaRPr lang="en-US" altLang="zh-CN" sz="1200" dirty="0">
              <a:solidFill>
                <a:srgbClr val="445469"/>
              </a:solidFill>
              <a:latin typeface="Arial" panose="020B0604020202020204" pitchFamily="34" charset="0"/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  <p:grpSp>
        <p:nvGrpSpPr>
          <p:cNvPr id="28692" name="组合 12"/>
          <p:cNvGrpSpPr/>
          <p:nvPr/>
        </p:nvGrpSpPr>
        <p:grpSpPr>
          <a:xfrm>
            <a:off x="3983038" y="2116135"/>
            <a:ext cx="4422775" cy="3427413"/>
            <a:chOff x="3982894" y="2116757"/>
            <a:chExt cx="4422378" cy="3426925"/>
          </a:xfrm>
        </p:grpSpPr>
        <p:sp>
          <p:nvSpPr>
            <p:cNvPr id="30" name="新月形 29"/>
            <p:cNvSpPr>
              <a:spLocks noChangeArrowheads="1"/>
            </p:cNvSpPr>
            <p:nvPr/>
          </p:nvSpPr>
          <p:spPr bwMode="auto">
            <a:xfrm rot="20751297">
              <a:off x="4135280" y="2356438"/>
              <a:ext cx="1588944" cy="3177722"/>
            </a:xfrm>
            <a:prstGeom prst="moon">
              <a:avLst>
                <a:gd name="adj" fmla="val 15190"/>
              </a:avLst>
            </a:prstGeom>
            <a:solidFill>
              <a:srgbClr val="6A6A6A"/>
            </a:solidFill>
            <a:ln w="3175" cmpd="sng">
              <a:solidFill>
                <a:srgbClr val="F8F8F8"/>
              </a:solidFill>
              <a:miter lim="800000"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1" name="新月形 30"/>
            <p:cNvSpPr>
              <a:spLocks noChangeArrowheads="1"/>
            </p:cNvSpPr>
            <p:nvPr/>
          </p:nvSpPr>
          <p:spPr bwMode="auto">
            <a:xfrm rot="4551297">
              <a:off x="4949633" y="1323036"/>
              <a:ext cx="1588861" cy="3176303"/>
            </a:xfrm>
            <a:prstGeom prst="moon">
              <a:avLst>
                <a:gd name="adj" fmla="val 15190"/>
              </a:avLst>
            </a:prstGeom>
            <a:noFill/>
            <a:ln w="3175" cmpd="sng">
              <a:solidFill>
                <a:srgbClr val="404040"/>
              </a:solidFill>
              <a:miter lim="800000"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2" name="新月形 31"/>
            <p:cNvSpPr>
              <a:spLocks noChangeArrowheads="1"/>
            </p:cNvSpPr>
            <p:nvPr/>
          </p:nvSpPr>
          <p:spPr bwMode="auto">
            <a:xfrm rot="9951297">
              <a:off x="5984551" y="2137394"/>
              <a:ext cx="1590532" cy="3177722"/>
            </a:xfrm>
            <a:prstGeom prst="moon">
              <a:avLst>
                <a:gd name="adj" fmla="val 15190"/>
              </a:avLst>
            </a:prstGeom>
            <a:solidFill>
              <a:srgbClr val="6A6A6A"/>
            </a:solidFill>
            <a:ln w="3175" cmpd="sng">
              <a:solidFill>
                <a:srgbClr val="F8F8F8"/>
              </a:solidFill>
              <a:miter lim="800000"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3" name="新月形 32"/>
            <p:cNvSpPr>
              <a:spLocks noChangeArrowheads="1"/>
            </p:cNvSpPr>
            <p:nvPr/>
          </p:nvSpPr>
          <p:spPr bwMode="auto">
            <a:xfrm rot="15351297">
              <a:off x="5185357" y="3160306"/>
              <a:ext cx="1588861" cy="3177890"/>
            </a:xfrm>
            <a:prstGeom prst="moon">
              <a:avLst>
                <a:gd name="adj" fmla="val 15190"/>
              </a:avLst>
            </a:prstGeom>
            <a:noFill/>
            <a:ln w="3175" cmpd="sng">
              <a:solidFill>
                <a:srgbClr val="404040"/>
              </a:solidFill>
              <a:miter lim="800000"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8697" name="TextBox 11"/>
            <p:cNvSpPr/>
            <p:nvPr/>
          </p:nvSpPr>
          <p:spPr>
            <a:xfrm flipH="1">
              <a:off x="4924196" y="3131980"/>
              <a:ext cx="2111185" cy="15682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>
                <a:buFont typeface="Arial" panose="020B0604020202020204" pitchFamily="34" charset="0"/>
              </a:pPr>
              <a:r>
                <a:rPr lang="en-US" altLang="zh-CN" sz="2400" b="1" dirty="0">
                  <a:solidFill>
                    <a:srgbClr val="445469"/>
                  </a:solidFill>
                  <a:latin typeface="Arial" panose="020B0604020202020204" pitchFamily="34" charset="0"/>
                  <a:ea typeface="Calibri" panose="020F0502020204030204" pitchFamily="34" charset="0"/>
                  <a:sym typeface="Arial" panose="020B0604020202020204" pitchFamily="34" charset="0"/>
                </a:rPr>
                <a:t>Data Warehouse For Trading System</a:t>
              </a:r>
              <a:endParaRPr lang="en-US" altLang="zh-CN" sz="2400" b="1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直接连接符 24"/>
            <p:cNvSpPr>
              <a:spLocks noChangeShapeType="1"/>
            </p:cNvSpPr>
            <p:nvPr/>
          </p:nvSpPr>
          <p:spPr bwMode="auto">
            <a:xfrm flipH="1">
              <a:off x="3982894" y="5343687"/>
              <a:ext cx="1033369" cy="0"/>
            </a:xfrm>
            <a:prstGeom prst="line">
              <a:avLst/>
            </a:prstGeom>
            <a:noFill/>
            <a:ln w="12700" cmpd="sng">
              <a:solidFill>
                <a:srgbClr val="ADBACA"/>
              </a:solidFill>
              <a:prstDash val="sysDot"/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6" name="直接连接符 24"/>
            <p:cNvSpPr>
              <a:spLocks noChangeShapeType="1"/>
            </p:cNvSpPr>
            <p:nvPr/>
          </p:nvSpPr>
          <p:spPr bwMode="auto">
            <a:xfrm flipH="1">
              <a:off x="6427425" y="2240567"/>
              <a:ext cx="1050831" cy="0"/>
            </a:xfrm>
            <a:prstGeom prst="line">
              <a:avLst/>
            </a:prstGeom>
            <a:noFill/>
            <a:ln w="12700" cmpd="sng">
              <a:solidFill>
                <a:srgbClr val="ADBACA"/>
              </a:solidFill>
              <a:prstDash val="sysDot"/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7" name="直接连接符 36"/>
            <p:cNvSpPr>
              <a:spLocks noChangeShapeType="1"/>
            </p:cNvSpPr>
            <p:nvPr/>
          </p:nvSpPr>
          <p:spPr bwMode="auto">
            <a:xfrm flipH="1">
              <a:off x="7371902" y="4559574"/>
              <a:ext cx="1033370" cy="0"/>
            </a:xfrm>
            <a:prstGeom prst="line">
              <a:avLst/>
            </a:prstGeom>
            <a:noFill/>
            <a:ln w="12700" cmpd="sng">
              <a:solidFill>
                <a:srgbClr val="ADBACA"/>
              </a:solidFill>
              <a:prstDash val="sysDot"/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ea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7649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7650" name="组合 4"/>
          <p:cNvGrpSpPr/>
          <p:nvPr/>
        </p:nvGrpSpPr>
        <p:grpSpPr>
          <a:xfrm>
            <a:off x="3644900" y="1911350"/>
            <a:ext cx="4902200" cy="2486025"/>
            <a:chOff x="3457574" y="1980069"/>
            <a:chExt cx="5143501" cy="2116786"/>
          </a:xfrm>
        </p:grpSpPr>
        <p:grpSp>
          <p:nvGrpSpPr>
            <p:cNvPr id="27651" name="组合 5"/>
            <p:cNvGrpSpPr/>
            <p:nvPr/>
          </p:nvGrpSpPr>
          <p:grpSpPr>
            <a:xfrm>
              <a:off x="3590925" y="1980069"/>
              <a:ext cx="5010150" cy="679906"/>
              <a:chOff x="4324350" y="2295525"/>
              <a:chExt cx="3733800" cy="679906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656" name="组合 6"/>
            <p:cNvGrpSpPr/>
            <p:nvPr/>
          </p:nvGrpSpPr>
          <p:grpSpPr>
            <a:xfrm flipH="1" flipV="1">
              <a:off x="3457574" y="3370824"/>
              <a:ext cx="4951785" cy="726031"/>
              <a:chOff x="4324350" y="2295525"/>
              <a:chExt cx="3733800" cy="679906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7661" name="文本框 35"/>
          <p:cNvSpPr txBox="1"/>
          <p:nvPr/>
        </p:nvSpPr>
        <p:spPr>
          <a:xfrm>
            <a:off x="4961255" y="1911350"/>
            <a:ext cx="2661285" cy="2214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defTabSz="914400"/>
            <a:r>
              <a:rPr lang="en-US" altLang="zh-CN" sz="13800" i="1" dirty="0">
                <a:solidFill>
                  <a:srgbClr val="404040"/>
                </a:solidFill>
                <a:latin typeface="Impact" panose="020B0806030902050204" pitchFamily="34" charset="0"/>
                <a:ea typeface="宋体" pitchFamily="2" charset="-122"/>
              </a:rPr>
              <a:t>01</a:t>
            </a:r>
            <a:endParaRPr lang="zh-CN" altLang="en-US" sz="13800" i="1" dirty="0">
              <a:solidFill>
                <a:srgbClr val="404040"/>
              </a:solidFill>
              <a:latin typeface="Impact" panose="020B0806030902050204" pitchFamily="34" charset="0"/>
              <a:ea typeface="宋体" pitchFamily="2" charset="-122"/>
            </a:endParaRPr>
          </a:p>
        </p:txBody>
      </p:sp>
      <p:sp>
        <p:nvSpPr>
          <p:cNvPr id="27662" name="文本框 36"/>
          <p:cNvSpPr txBox="1"/>
          <p:nvPr/>
        </p:nvSpPr>
        <p:spPr>
          <a:xfrm>
            <a:off x="4224338" y="3867150"/>
            <a:ext cx="3743325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r" defTabSz="1216025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Intro and Requirments</a:t>
            </a:r>
            <a:endParaRPr lang="zh-CN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27663" name="矩形 33"/>
          <p:cNvSpPr/>
          <p:nvPr/>
        </p:nvSpPr>
        <p:spPr>
          <a:xfrm>
            <a:off x="3249613" y="4668203"/>
            <a:ext cx="5297487" cy="43053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p>
            <a:pPr algn="r" defTabSz="1216025">
              <a:spcBef>
                <a:spcPct val="20000"/>
              </a:spcBef>
            </a:pPr>
            <a:r>
              <a:rPr lang="en-US" altLang="zh-CN" sz="1400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A brief introduction to trading systems and requirements for designing a data warehouse</a:t>
            </a:r>
            <a:endParaRPr lang="en-US" altLang="zh-CN" sz="14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242" name="组合 1"/>
          <p:cNvGrpSpPr/>
          <p:nvPr/>
        </p:nvGrpSpPr>
        <p:grpSpPr>
          <a:xfrm>
            <a:off x="211138" y="257175"/>
            <a:ext cx="558800" cy="4635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50" name="文本框 28"/>
          <p:cNvSpPr txBox="1"/>
          <p:nvPr/>
        </p:nvSpPr>
        <p:spPr>
          <a:xfrm>
            <a:off x="316230" y="257175"/>
            <a:ext cx="39293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 defTabSz="1216025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Intro and Requirments</a:t>
            </a:r>
            <a:endParaRPr lang="zh-CN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8675" y="1728788"/>
            <a:ext cx="10515600" cy="29003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52" name="图片 5"/>
          <p:cNvPicPr>
            <a:picLocks noChangeAspect="1"/>
          </p:cNvPicPr>
          <p:nvPr/>
        </p:nvPicPr>
        <p:blipFill>
          <a:blip r:embed="rId2"/>
          <a:srcRect l="12102" r="15764"/>
          <a:stretch>
            <a:fillRect/>
          </a:stretch>
        </p:blipFill>
        <p:spPr>
          <a:xfrm>
            <a:off x="423863" y="3033713"/>
            <a:ext cx="3448050" cy="2987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53" name="文本框 6"/>
          <p:cNvSpPr txBox="1"/>
          <p:nvPr/>
        </p:nvSpPr>
        <p:spPr>
          <a:xfrm>
            <a:off x="957263" y="1757363"/>
            <a:ext cx="5043487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800" b="1" dirty="0">
                <a:solidFill>
                  <a:srgbClr val="404040"/>
                </a:solidFill>
                <a:ea typeface="Calibri" panose="020F0502020204030204" pitchFamily="34" charset="0"/>
              </a:rPr>
              <a:t>What is a Trading System</a:t>
            </a:r>
            <a:endParaRPr lang="en-US" altLang="zh-CN" sz="28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0254" name="矩形 7"/>
          <p:cNvSpPr/>
          <p:nvPr/>
        </p:nvSpPr>
        <p:spPr>
          <a:xfrm>
            <a:off x="914400" y="2281238"/>
            <a:ext cx="5718175" cy="22098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p>
            <a:pPr algn="ctr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2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Anwered by Claude2</a:t>
            </a:r>
            <a:endParaRPr lang="en-US" altLang="zh-CN" sz="12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0255" name="矩形 8"/>
          <p:cNvSpPr/>
          <p:nvPr/>
        </p:nvSpPr>
        <p:spPr>
          <a:xfrm>
            <a:off x="4587875" y="2551430"/>
            <a:ext cx="6040438" cy="211328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p>
            <a:pPr algn="ctr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sz="16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A trading system refers to a structured, rules-based approach to buying and selling financial assets like stocks, options, futures, etc. in the financial markets. </a:t>
            </a:r>
            <a:endParaRPr sz="16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  <a:p>
            <a:pPr algn="ctr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sz="16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The goal of most trading systems is to methodically outperform buy-and-hold approaches through a rules-based methodology for selecting and managing trades. Discipline in sticking to the rules is key to their success.</a:t>
            </a:r>
            <a:endParaRPr sz="16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2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242" name="组合 1"/>
          <p:cNvGrpSpPr/>
          <p:nvPr/>
        </p:nvGrpSpPr>
        <p:grpSpPr>
          <a:xfrm>
            <a:off x="211138" y="257175"/>
            <a:ext cx="558800" cy="4635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50" name="文本框 28"/>
          <p:cNvSpPr txBox="1"/>
          <p:nvPr/>
        </p:nvSpPr>
        <p:spPr>
          <a:xfrm>
            <a:off x="316230" y="257175"/>
            <a:ext cx="39293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 defTabSz="1216025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Intro and Requirments</a:t>
            </a:r>
            <a:endParaRPr lang="zh-CN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8675" y="1728788"/>
            <a:ext cx="10515600" cy="29003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54" name="矩形 7"/>
          <p:cNvSpPr/>
          <p:nvPr/>
        </p:nvSpPr>
        <p:spPr>
          <a:xfrm>
            <a:off x="914400" y="2281238"/>
            <a:ext cx="5718175" cy="22098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p>
            <a:pPr algn="ctr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2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Anwered by Claude2</a:t>
            </a:r>
            <a:endParaRPr lang="en-US" altLang="zh-CN" sz="12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0255" name="矩形 8"/>
          <p:cNvSpPr/>
          <p:nvPr/>
        </p:nvSpPr>
        <p:spPr>
          <a:xfrm>
            <a:off x="957580" y="2700020"/>
            <a:ext cx="3848735" cy="211328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p>
            <a:pPr algn="ctr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sz="16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Get market data feeds - Arrange for live ticker plant data feeds for the markets you wish to trade in. </a:t>
            </a:r>
            <a:r>
              <a:rPr sz="1600" b="1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This real-time data will feed into the system.</a:t>
            </a:r>
            <a:r>
              <a:rPr sz="16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 Common data feeds include equities, futures, FX, options etc.</a:t>
            </a:r>
            <a:endParaRPr sz="16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  <a:p>
            <a:pPr algn="ctr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endParaRPr sz="16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0253" name="文本框 6"/>
          <p:cNvSpPr txBox="1"/>
          <p:nvPr/>
        </p:nvSpPr>
        <p:spPr>
          <a:xfrm>
            <a:off x="957580" y="1757680"/>
            <a:ext cx="55810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800" b="1" dirty="0">
                <a:solidFill>
                  <a:srgbClr val="404040"/>
                </a:solidFill>
                <a:ea typeface="Calibri" panose="020F0502020204030204" pitchFamily="34" charset="0"/>
              </a:rPr>
              <a:t>How to build a trading system</a:t>
            </a:r>
            <a:endParaRPr lang="en-US" altLang="zh-CN" sz="28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pic>
        <p:nvPicPr>
          <p:cNvPr id="3" name="图片 2" descr="截屏2023-12-02 下午6.14.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945" y="2359660"/>
            <a:ext cx="7056120" cy="35814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313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3314" name="组合 1"/>
          <p:cNvGrpSpPr/>
          <p:nvPr/>
        </p:nvGrpSpPr>
        <p:grpSpPr>
          <a:xfrm>
            <a:off x="211138" y="257175"/>
            <a:ext cx="558800" cy="4635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22" name="文本框 28"/>
          <p:cNvSpPr txBox="1"/>
          <p:nvPr/>
        </p:nvSpPr>
        <p:spPr>
          <a:xfrm>
            <a:off x="290830" y="254000"/>
            <a:ext cx="566356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 defTabSz="1216025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Requirments for Datawarehouse</a:t>
            </a:r>
            <a:endParaRPr lang="zh-CN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2" name="泪滴形 11"/>
          <p:cNvSpPr/>
          <p:nvPr/>
        </p:nvSpPr>
        <p:spPr>
          <a:xfrm rot="5400000">
            <a:off x="3700463" y="1514475"/>
            <a:ext cx="2486025" cy="2486025"/>
          </a:xfrm>
          <a:prstGeom prst="teardrop">
            <a:avLst/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泪滴形 12"/>
          <p:cNvSpPr/>
          <p:nvPr/>
        </p:nvSpPr>
        <p:spPr>
          <a:xfrm rot="10800000">
            <a:off x="6253163" y="2133600"/>
            <a:ext cx="1862138" cy="1862138"/>
          </a:xfrm>
          <a:prstGeom prst="teardrop">
            <a:avLst/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泪滴形 13"/>
          <p:cNvSpPr/>
          <p:nvPr/>
        </p:nvSpPr>
        <p:spPr>
          <a:xfrm rot="16200000">
            <a:off x="6267450" y="4060825"/>
            <a:ext cx="1619250" cy="1619250"/>
          </a:xfrm>
          <a:prstGeom prst="teardrop">
            <a:avLst/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泪滴形 14"/>
          <p:cNvSpPr/>
          <p:nvPr/>
        </p:nvSpPr>
        <p:spPr>
          <a:xfrm>
            <a:off x="4732338" y="4060825"/>
            <a:ext cx="1454150" cy="1454150"/>
          </a:xfrm>
          <a:prstGeom prst="teardrop">
            <a:avLst/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3808413" y="1622425"/>
            <a:ext cx="2270125" cy="22701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350000" y="2133600"/>
            <a:ext cx="1685925" cy="17659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6365875" y="4159250"/>
            <a:ext cx="1422400" cy="1422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803775" y="4132263"/>
            <a:ext cx="1311275" cy="13112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等腰三角形 26"/>
          <p:cNvSpPr/>
          <p:nvPr/>
        </p:nvSpPr>
        <p:spPr>
          <a:xfrm rot="18085212">
            <a:off x="7789069" y="3909219"/>
            <a:ext cx="357188" cy="298450"/>
          </a:xfrm>
          <a:prstGeom prst="triangle">
            <a:avLst/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等腰三角形 27"/>
          <p:cNvSpPr/>
          <p:nvPr/>
        </p:nvSpPr>
        <p:spPr>
          <a:xfrm rot="14697598">
            <a:off x="7872413" y="5089525"/>
            <a:ext cx="347663" cy="150813"/>
          </a:xfrm>
          <a:prstGeom prst="triangle">
            <a:avLst/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等腰三角形 29"/>
          <p:cNvSpPr/>
          <p:nvPr/>
        </p:nvSpPr>
        <p:spPr>
          <a:xfrm rot="4929495">
            <a:off x="3404394" y="3077369"/>
            <a:ext cx="357188" cy="298450"/>
          </a:xfrm>
          <a:prstGeom prst="triangle">
            <a:avLst/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" name="等腰三角形 30"/>
          <p:cNvSpPr/>
          <p:nvPr/>
        </p:nvSpPr>
        <p:spPr>
          <a:xfrm rot="4168545">
            <a:off x="4737894" y="4091781"/>
            <a:ext cx="236538" cy="196850"/>
          </a:xfrm>
          <a:prstGeom prst="triangle">
            <a:avLst/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文本框 16"/>
          <p:cNvSpPr txBox="1">
            <a:spLocks noChangeArrowheads="1"/>
          </p:cNvSpPr>
          <p:nvPr/>
        </p:nvSpPr>
        <p:spPr bwMode="auto">
          <a:xfrm>
            <a:off x="4400550" y="2230438"/>
            <a:ext cx="211772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01</a:t>
            </a:r>
            <a:endParaRPr kumimoji="0" lang="zh-CN" altLang="en-US" sz="60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33" name="文本框 17"/>
          <p:cNvSpPr txBox="1">
            <a:spLocks noChangeArrowheads="1"/>
          </p:cNvSpPr>
          <p:nvPr/>
        </p:nvSpPr>
        <p:spPr bwMode="auto">
          <a:xfrm>
            <a:off x="6584950" y="2587625"/>
            <a:ext cx="211772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02</a:t>
            </a:r>
            <a:endParaRPr kumimoji="0" lang="zh-CN" altLang="en-US" sz="60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34" name="文本框 18"/>
          <p:cNvSpPr txBox="1">
            <a:spLocks noChangeArrowheads="1"/>
          </p:cNvSpPr>
          <p:nvPr/>
        </p:nvSpPr>
        <p:spPr bwMode="auto">
          <a:xfrm>
            <a:off x="4959350" y="4432300"/>
            <a:ext cx="211772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03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35" name="文本框 19"/>
          <p:cNvSpPr txBox="1">
            <a:spLocks noChangeArrowheads="1"/>
          </p:cNvSpPr>
          <p:nvPr/>
        </p:nvSpPr>
        <p:spPr bwMode="auto">
          <a:xfrm>
            <a:off x="6554788" y="4451350"/>
            <a:ext cx="1233488" cy="9239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04</a:t>
            </a:r>
            <a:endParaRPr kumimoji="0" lang="zh-CN" altLang="en-US" sz="54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36" name="文本框 20"/>
          <p:cNvSpPr txBox="1">
            <a:spLocks noChangeArrowheads="1"/>
          </p:cNvSpPr>
          <p:nvPr/>
        </p:nvSpPr>
        <p:spPr bwMode="auto">
          <a:xfrm>
            <a:off x="8355330" y="2435225"/>
            <a:ext cx="374396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Req 4 Company Earnings Data(US Market)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37" name="矩形 13"/>
          <p:cNvSpPr>
            <a:spLocks noChangeArrowheads="1"/>
          </p:cNvSpPr>
          <p:nvPr/>
        </p:nvSpPr>
        <p:spPr bwMode="auto">
          <a:xfrm>
            <a:off x="8483600" y="3080068"/>
            <a:ext cx="3017838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Earnings data released by the company each quarter, including PB, PE, etc.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38" name="文本框 22"/>
          <p:cNvSpPr txBox="1">
            <a:spLocks noChangeArrowheads="1"/>
          </p:cNvSpPr>
          <p:nvPr/>
        </p:nvSpPr>
        <p:spPr bwMode="auto">
          <a:xfrm>
            <a:off x="8355330" y="4381500"/>
            <a:ext cx="394525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Req 3 Significant events occurring in the company(CN Market)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39" name="矩形 13"/>
          <p:cNvSpPr>
            <a:spLocks noChangeArrowheads="1"/>
          </p:cNvSpPr>
          <p:nvPr/>
        </p:nvSpPr>
        <p:spPr bwMode="auto">
          <a:xfrm>
            <a:off x="8483600" y="5026343"/>
            <a:ext cx="3017838" cy="1033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Significant events occurring in the company include asset reorganization, external guarantees, share pledges, asset acquisitions, etc.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40" name="文本框 24"/>
          <p:cNvSpPr txBox="1">
            <a:spLocks noChangeArrowheads="1"/>
          </p:cNvSpPr>
          <p:nvPr/>
        </p:nvSpPr>
        <p:spPr bwMode="auto">
          <a:xfrm>
            <a:off x="354330" y="2479675"/>
            <a:ext cx="374396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Req1 Data for all Instruments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41" name="矩形 13"/>
          <p:cNvSpPr>
            <a:spLocks noChangeArrowheads="1"/>
          </p:cNvSpPr>
          <p:nvPr/>
        </p:nvSpPr>
        <p:spPr bwMode="auto">
          <a:xfrm>
            <a:off x="354013" y="2847975"/>
            <a:ext cx="3017838" cy="51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Minute and day stock data, including open, close, high, low, etc.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42" name="文本框 26"/>
          <p:cNvSpPr txBox="1">
            <a:spLocks noChangeArrowheads="1"/>
          </p:cNvSpPr>
          <p:nvPr/>
        </p:nvSpPr>
        <p:spPr bwMode="auto">
          <a:xfrm>
            <a:off x="1200785" y="4370705"/>
            <a:ext cx="335216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Req 2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Company Basic Info 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43" name="矩形 13"/>
          <p:cNvSpPr>
            <a:spLocks noChangeArrowheads="1"/>
          </p:cNvSpPr>
          <p:nvPr/>
        </p:nvSpPr>
        <p:spPr bwMode="auto">
          <a:xfrm>
            <a:off x="1408113" y="4738688"/>
            <a:ext cx="3017838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Basic information about the company including market capitalization, the company's industry, etc.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7649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-2159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7650" name="组合 4"/>
          <p:cNvGrpSpPr/>
          <p:nvPr/>
        </p:nvGrpSpPr>
        <p:grpSpPr>
          <a:xfrm>
            <a:off x="3644900" y="1911350"/>
            <a:ext cx="4902200" cy="2486025"/>
            <a:chOff x="3457574" y="1980069"/>
            <a:chExt cx="5143501" cy="2116786"/>
          </a:xfrm>
        </p:grpSpPr>
        <p:grpSp>
          <p:nvGrpSpPr>
            <p:cNvPr id="27651" name="组合 5"/>
            <p:cNvGrpSpPr/>
            <p:nvPr/>
          </p:nvGrpSpPr>
          <p:grpSpPr>
            <a:xfrm>
              <a:off x="3590925" y="1980069"/>
              <a:ext cx="5010150" cy="679906"/>
              <a:chOff x="4324350" y="2295525"/>
              <a:chExt cx="3733800" cy="679906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656" name="组合 6"/>
            <p:cNvGrpSpPr/>
            <p:nvPr/>
          </p:nvGrpSpPr>
          <p:grpSpPr>
            <a:xfrm flipH="1" flipV="1">
              <a:off x="3457574" y="3370824"/>
              <a:ext cx="4951785" cy="726031"/>
              <a:chOff x="4324350" y="2295525"/>
              <a:chExt cx="3733800" cy="679906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7661" name="文本框 35"/>
          <p:cNvSpPr txBox="1"/>
          <p:nvPr/>
        </p:nvSpPr>
        <p:spPr>
          <a:xfrm>
            <a:off x="4888865" y="1924050"/>
            <a:ext cx="2698115" cy="2214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defTabSz="914400"/>
            <a:r>
              <a:rPr lang="en-US" altLang="zh-CN" sz="13800" i="1" dirty="0">
                <a:solidFill>
                  <a:srgbClr val="404040"/>
                </a:solidFill>
                <a:latin typeface="Impact" panose="020B0806030902050204" pitchFamily="34" charset="0"/>
                <a:ea typeface="宋体" pitchFamily="2" charset="-122"/>
              </a:rPr>
              <a:t>02</a:t>
            </a:r>
            <a:endParaRPr lang="zh-CN" altLang="en-US" sz="13800" i="1" dirty="0">
              <a:solidFill>
                <a:srgbClr val="404040"/>
              </a:solidFill>
              <a:latin typeface="Impact" panose="020B0806030902050204" pitchFamily="34" charset="0"/>
              <a:ea typeface="宋体" pitchFamily="2" charset="-122"/>
            </a:endParaRPr>
          </a:p>
        </p:txBody>
      </p:sp>
      <p:sp>
        <p:nvSpPr>
          <p:cNvPr id="27662" name="文本框 36"/>
          <p:cNvSpPr txBox="1"/>
          <p:nvPr/>
        </p:nvSpPr>
        <p:spPr>
          <a:xfrm>
            <a:off x="4224338" y="3867150"/>
            <a:ext cx="3743325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r" defTabSz="1216025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DataWarehouse Design</a:t>
            </a:r>
            <a:endParaRPr lang="zh-CN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27663" name="矩形 33"/>
          <p:cNvSpPr/>
          <p:nvPr/>
        </p:nvSpPr>
        <p:spPr>
          <a:xfrm>
            <a:off x="3249613" y="4668203"/>
            <a:ext cx="5297487" cy="43053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p>
            <a:pPr algn="r" defTabSz="1216025">
              <a:spcBef>
                <a:spcPct val="20000"/>
              </a:spcBef>
            </a:pPr>
            <a:r>
              <a:rPr lang="en-US" altLang="zh-CN" sz="1400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Designing a Data Warehouse to Meet the Data Needs of the Strategy</a:t>
            </a:r>
            <a:endParaRPr lang="en-US" altLang="zh-CN" sz="14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313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3314" name="组合 1"/>
          <p:cNvGrpSpPr/>
          <p:nvPr/>
        </p:nvGrpSpPr>
        <p:grpSpPr>
          <a:xfrm>
            <a:off x="211138" y="257175"/>
            <a:ext cx="558800" cy="4635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22" name="文本框 28"/>
          <p:cNvSpPr txBox="1"/>
          <p:nvPr/>
        </p:nvSpPr>
        <p:spPr>
          <a:xfrm>
            <a:off x="290830" y="254000"/>
            <a:ext cx="566356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 defTabSz="1216025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404040"/>
                </a:solidFill>
                <a:ea typeface="Calibri" panose="020F0502020204030204" pitchFamily="34" charset="0"/>
              </a:rPr>
              <a:t>DataWarehouse Design</a:t>
            </a:r>
            <a:endParaRPr lang="en-US" altLang="zh-CN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pic>
        <p:nvPicPr>
          <p:cNvPr id="2" name="图片 1" descr="DataWarehouse_Design.drawio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" y="714375"/>
            <a:ext cx="10073640" cy="60483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7649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7650" name="组合 4"/>
          <p:cNvGrpSpPr/>
          <p:nvPr/>
        </p:nvGrpSpPr>
        <p:grpSpPr>
          <a:xfrm>
            <a:off x="3644900" y="1911350"/>
            <a:ext cx="4902200" cy="2486025"/>
            <a:chOff x="3457574" y="1980069"/>
            <a:chExt cx="5143501" cy="2116786"/>
          </a:xfrm>
        </p:grpSpPr>
        <p:grpSp>
          <p:nvGrpSpPr>
            <p:cNvPr id="27651" name="组合 5"/>
            <p:cNvGrpSpPr/>
            <p:nvPr/>
          </p:nvGrpSpPr>
          <p:grpSpPr>
            <a:xfrm>
              <a:off x="3590925" y="1980069"/>
              <a:ext cx="5010150" cy="679906"/>
              <a:chOff x="4324350" y="2295525"/>
              <a:chExt cx="3733800" cy="679906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656" name="组合 6"/>
            <p:cNvGrpSpPr/>
            <p:nvPr/>
          </p:nvGrpSpPr>
          <p:grpSpPr>
            <a:xfrm flipH="1" flipV="1">
              <a:off x="3457574" y="3370824"/>
              <a:ext cx="4951785" cy="726031"/>
              <a:chOff x="4324350" y="2295525"/>
              <a:chExt cx="3733800" cy="679906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7661" name="文本框 35"/>
          <p:cNvSpPr txBox="1"/>
          <p:nvPr/>
        </p:nvSpPr>
        <p:spPr>
          <a:xfrm>
            <a:off x="4961255" y="1911350"/>
            <a:ext cx="2804160" cy="2214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defTabSz="914400"/>
            <a:r>
              <a:rPr lang="en-US" altLang="zh-CN" sz="13800" i="1" dirty="0">
                <a:solidFill>
                  <a:srgbClr val="404040"/>
                </a:solidFill>
                <a:latin typeface="Impact" panose="020B0806030902050204" pitchFamily="34" charset="0"/>
                <a:ea typeface="宋体" pitchFamily="2" charset="-122"/>
              </a:rPr>
              <a:t>03</a:t>
            </a:r>
            <a:endParaRPr lang="zh-CN" altLang="en-US" sz="13800" i="1" dirty="0">
              <a:solidFill>
                <a:srgbClr val="404040"/>
              </a:solidFill>
              <a:latin typeface="Impact" panose="020B0806030902050204" pitchFamily="34" charset="0"/>
              <a:ea typeface="宋体" pitchFamily="2" charset="-122"/>
            </a:endParaRPr>
          </a:p>
        </p:txBody>
      </p:sp>
      <p:sp>
        <p:nvSpPr>
          <p:cNvPr id="27662" name="文本框 36"/>
          <p:cNvSpPr txBox="1"/>
          <p:nvPr/>
        </p:nvSpPr>
        <p:spPr>
          <a:xfrm>
            <a:off x="4224338" y="3867150"/>
            <a:ext cx="3743325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defTabSz="1216025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ETL, SQL, Visualization </a:t>
            </a:r>
            <a:endParaRPr lang="zh-CN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27663" name="矩形 33"/>
          <p:cNvSpPr/>
          <p:nvPr/>
        </p:nvSpPr>
        <p:spPr>
          <a:xfrm>
            <a:off x="3825875" y="4668520"/>
            <a:ext cx="4721225" cy="43053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400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Processing data and designing sql to query the results and finally presenting the visualizations</a:t>
            </a:r>
            <a:endParaRPr lang="en-US" altLang="zh-CN" sz="14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36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2" name="图片 4"/>
          <p:cNvPicPr>
            <a:picLocks noChangeAspect="1"/>
          </p:cNvPicPr>
          <p:nvPr/>
        </p:nvPicPr>
        <p:blipFill>
          <a:blip r:embed="rId2"/>
          <a:srcRect l="25000" r="15790"/>
          <a:stretch>
            <a:fillRect/>
          </a:stretch>
        </p:blipFill>
        <p:spPr>
          <a:xfrm>
            <a:off x="4973638" y="0"/>
            <a:ext cx="7218362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3" name="文本框 6"/>
          <p:cNvSpPr txBox="1"/>
          <p:nvPr/>
        </p:nvSpPr>
        <p:spPr>
          <a:xfrm>
            <a:off x="1243330" y="2228850"/>
            <a:ext cx="342582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3600" b="1" dirty="0">
                <a:solidFill>
                  <a:srgbClr val="404040"/>
                </a:solidFill>
                <a:ea typeface="Calibri" panose="020F0502020204030204" pitchFamily="34" charset="0"/>
              </a:rPr>
              <a:t>ETL Process</a:t>
            </a:r>
            <a:endParaRPr lang="zh-CN" altLang="en-US" sz="36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4" name="矩形 8"/>
          <p:cNvSpPr>
            <a:spLocks noChangeArrowheads="1"/>
          </p:cNvSpPr>
          <p:nvPr/>
        </p:nvSpPr>
        <p:spPr bwMode="auto">
          <a:xfrm>
            <a:off x="684213" y="3729038"/>
            <a:ext cx="3984625" cy="982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1. History Data Processing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2. Processing of daily updated data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宋体" charset="0"/>
                <a:cs typeface="+mn-cs"/>
                <a:sym typeface="Arial" panose="020B0604020202020204" pitchFamily="34" charset="0"/>
              </a:rPr>
              <a:t>（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宋体" charset="0"/>
                <a:cs typeface="+mn-cs"/>
                <a:sym typeface="Arial" panose="020B0604020202020204" pitchFamily="34" charset="0"/>
              </a:rPr>
              <a:t>Jupyter Notebook)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 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375525" y="0"/>
            <a:ext cx="19208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09163" y="0"/>
            <a:ext cx="1936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289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2290" name="组合 1"/>
          <p:cNvGrpSpPr/>
          <p:nvPr/>
        </p:nvGrpSpPr>
        <p:grpSpPr>
          <a:xfrm>
            <a:off x="211138" y="257175"/>
            <a:ext cx="558800" cy="4635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98" name="文本框 28"/>
          <p:cNvSpPr txBox="1"/>
          <p:nvPr/>
        </p:nvSpPr>
        <p:spPr>
          <a:xfrm>
            <a:off x="290513" y="254000"/>
            <a:ext cx="3744912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404040"/>
                </a:solidFill>
                <a:ea typeface="Calibri" panose="020F0502020204030204" pitchFamily="34" charset="0"/>
              </a:rPr>
              <a:t>Data Visualization</a:t>
            </a:r>
            <a:endParaRPr lang="en-US" altLang="zh-CN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2314575"/>
            <a:ext cx="12192000" cy="2343150"/>
          </a:xfrm>
          <a:prstGeom prst="rect">
            <a:avLst/>
          </a:prstGeom>
          <a:solidFill>
            <a:schemeClr val="bg1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图片 1" descr="截屏2023-12-02 下午8.24.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384300"/>
            <a:ext cx="6191250" cy="5172075"/>
          </a:xfrm>
          <a:prstGeom prst="rect">
            <a:avLst/>
          </a:prstGeom>
        </p:spPr>
      </p:pic>
      <p:pic>
        <p:nvPicPr>
          <p:cNvPr id="3" name="图片 2" descr="截屏2023-12-02 下午8.24.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540" y="1622425"/>
            <a:ext cx="5238115" cy="401574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60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5602" name="组合 1"/>
          <p:cNvGrpSpPr/>
          <p:nvPr/>
        </p:nvGrpSpPr>
        <p:grpSpPr>
          <a:xfrm>
            <a:off x="211138" y="257175"/>
            <a:ext cx="558800" cy="4635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610" name="文本框 28"/>
          <p:cNvSpPr txBox="1"/>
          <p:nvPr/>
        </p:nvSpPr>
        <p:spPr>
          <a:xfrm>
            <a:off x="290830" y="254000"/>
            <a:ext cx="44354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404040"/>
                </a:solidFill>
                <a:ea typeface="Calibri" panose="020F0502020204030204" pitchFamily="34" charset="0"/>
                <a:sym typeface="+mn-ea"/>
              </a:rPr>
              <a:t>Basic SQL Search Examples</a:t>
            </a:r>
            <a:endParaRPr lang="zh-CN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25988" y="2347913"/>
            <a:ext cx="1247775" cy="124777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211888" y="2347913"/>
            <a:ext cx="1247775" cy="124777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725988" y="3795713"/>
            <a:ext cx="1247775" cy="124777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211888" y="3795713"/>
            <a:ext cx="1247775" cy="124777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Freeform 490"/>
          <p:cNvSpPr>
            <a:spLocks noEditPoints="1"/>
          </p:cNvSpPr>
          <p:nvPr/>
        </p:nvSpPr>
        <p:spPr bwMode="auto">
          <a:xfrm>
            <a:off x="6634163" y="4197350"/>
            <a:ext cx="434975" cy="436563"/>
          </a:xfrm>
          <a:custGeom>
            <a:avLst/>
            <a:gdLst>
              <a:gd name="T0" fmla="*/ 351469 w 294"/>
              <a:gd name="T1" fmla="*/ 86013 h 294"/>
              <a:gd name="T2" fmla="*/ 226898 w 294"/>
              <a:gd name="T3" fmla="*/ 14830 h 294"/>
              <a:gd name="T4" fmla="*/ 237279 w 294"/>
              <a:gd name="T5" fmla="*/ 68217 h 294"/>
              <a:gd name="T6" fmla="*/ 121605 w 294"/>
              <a:gd name="T7" fmla="*/ 182407 h 294"/>
              <a:gd name="T8" fmla="*/ 44490 w 294"/>
              <a:gd name="T9" fmla="*/ 160163 h 294"/>
              <a:gd name="T10" fmla="*/ 109741 w 294"/>
              <a:gd name="T11" fmla="*/ 290665 h 294"/>
              <a:gd name="T12" fmla="*/ 0 w 294"/>
              <a:gd name="T13" fmla="*/ 424134 h 294"/>
              <a:gd name="T14" fmla="*/ 11864 w 294"/>
              <a:gd name="T15" fmla="*/ 435998 h 294"/>
              <a:gd name="T16" fmla="*/ 145333 w 294"/>
              <a:gd name="T17" fmla="*/ 326257 h 294"/>
              <a:gd name="T18" fmla="*/ 275837 w 294"/>
              <a:gd name="T19" fmla="*/ 391508 h 294"/>
              <a:gd name="T20" fmla="*/ 253592 w 294"/>
              <a:gd name="T21" fmla="*/ 315876 h 294"/>
              <a:gd name="T22" fmla="*/ 369265 w 294"/>
              <a:gd name="T23" fmla="*/ 200203 h 294"/>
              <a:gd name="T24" fmla="*/ 421170 w 294"/>
              <a:gd name="T25" fmla="*/ 210584 h 294"/>
              <a:gd name="T26" fmla="*/ 351469 w 294"/>
              <a:gd name="T27" fmla="*/ 86013 h 294"/>
              <a:gd name="T28" fmla="*/ 258041 w 294"/>
              <a:gd name="T29" fmla="*/ 126054 h 294"/>
              <a:gd name="T30" fmla="*/ 172027 w 294"/>
              <a:gd name="T31" fmla="*/ 213550 h 294"/>
              <a:gd name="T32" fmla="*/ 152748 w 294"/>
              <a:gd name="T33" fmla="*/ 213550 h 294"/>
              <a:gd name="T34" fmla="*/ 152748 w 294"/>
              <a:gd name="T35" fmla="*/ 194271 h 294"/>
              <a:gd name="T36" fmla="*/ 240245 w 294"/>
              <a:gd name="T37" fmla="*/ 106775 h 294"/>
              <a:gd name="T38" fmla="*/ 258041 w 294"/>
              <a:gd name="T39" fmla="*/ 106775 h 294"/>
              <a:gd name="T40" fmla="*/ 258041 w 294"/>
              <a:gd name="T41" fmla="*/ 126054 h 294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294" h="294">
                <a:moveTo>
                  <a:pt x="237" y="58"/>
                </a:moveTo>
                <a:cubicBezTo>
                  <a:pt x="197" y="17"/>
                  <a:pt x="163" y="0"/>
                  <a:pt x="153" y="10"/>
                </a:cubicBezTo>
                <a:cubicBezTo>
                  <a:pt x="147" y="16"/>
                  <a:pt x="150" y="29"/>
                  <a:pt x="160" y="46"/>
                </a:cubicBezTo>
                <a:cubicBezTo>
                  <a:pt x="82" y="123"/>
                  <a:pt x="82" y="123"/>
                  <a:pt x="82" y="123"/>
                </a:cubicBezTo>
                <a:cubicBezTo>
                  <a:pt x="57" y="106"/>
                  <a:pt x="38" y="101"/>
                  <a:pt x="30" y="108"/>
                </a:cubicBezTo>
                <a:cubicBezTo>
                  <a:pt x="19" y="120"/>
                  <a:pt x="35" y="154"/>
                  <a:pt x="74" y="196"/>
                </a:cubicBezTo>
                <a:cubicBezTo>
                  <a:pt x="0" y="286"/>
                  <a:pt x="0" y="286"/>
                  <a:pt x="0" y="286"/>
                </a:cubicBezTo>
                <a:cubicBezTo>
                  <a:pt x="8" y="294"/>
                  <a:pt x="8" y="294"/>
                  <a:pt x="8" y="294"/>
                </a:cubicBezTo>
                <a:cubicBezTo>
                  <a:pt x="98" y="220"/>
                  <a:pt x="98" y="220"/>
                  <a:pt x="98" y="220"/>
                </a:cubicBezTo>
                <a:cubicBezTo>
                  <a:pt x="141" y="260"/>
                  <a:pt x="175" y="276"/>
                  <a:pt x="186" y="264"/>
                </a:cubicBezTo>
                <a:cubicBezTo>
                  <a:pt x="194" y="257"/>
                  <a:pt x="189" y="238"/>
                  <a:pt x="171" y="213"/>
                </a:cubicBezTo>
                <a:cubicBezTo>
                  <a:pt x="249" y="135"/>
                  <a:pt x="249" y="135"/>
                  <a:pt x="249" y="135"/>
                </a:cubicBezTo>
                <a:cubicBezTo>
                  <a:pt x="266" y="145"/>
                  <a:pt x="278" y="148"/>
                  <a:pt x="284" y="142"/>
                </a:cubicBezTo>
                <a:cubicBezTo>
                  <a:pt x="294" y="132"/>
                  <a:pt x="277" y="98"/>
                  <a:pt x="237" y="58"/>
                </a:cubicBezTo>
                <a:close/>
                <a:moveTo>
                  <a:pt x="174" y="85"/>
                </a:moveTo>
                <a:cubicBezTo>
                  <a:pt x="116" y="144"/>
                  <a:pt x="116" y="144"/>
                  <a:pt x="116" y="144"/>
                </a:cubicBezTo>
                <a:cubicBezTo>
                  <a:pt x="112" y="147"/>
                  <a:pt x="107" y="147"/>
                  <a:pt x="103" y="144"/>
                </a:cubicBezTo>
                <a:cubicBezTo>
                  <a:pt x="99" y="140"/>
                  <a:pt x="99" y="134"/>
                  <a:pt x="103" y="131"/>
                </a:cubicBezTo>
                <a:cubicBezTo>
                  <a:pt x="162" y="72"/>
                  <a:pt x="162" y="72"/>
                  <a:pt x="162" y="72"/>
                </a:cubicBezTo>
                <a:cubicBezTo>
                  <a:pt x="165" y="69"/>
                  <a:pt x="171" y="69"/>
                  <a:pt x="174" y="72"/>
                </a:cubicBezTo>
                <a:cubicBezTo>
                  <a:pt x="178" y="76"/>
                  <a:pt x="178" y="82"/>
                  <a:pt x="174" y="85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5129208" y="4201261"/>
            <a:ext cx="439985" cy="437580"/>
            <a:chOff x="9890126" y="4225925"/>
            <a:chExt cx="290513" cy="288925"/>
          </a:xfrm>
          <a:solidFill>
            <a:srgbClr val="404040"/>
          </a:solidFill>
        </p:grpSpPr>
        <p:sp>
          <p:nvSpPr>
            <p:cNvPr id="18" name="Freeform 438@|5FFC:0|FBC:0|LFC:0|LBC:16777215"/>
            <p:cNvSpPr/>
            <p:nvPr/>
          </p:nvSpPr>
          <p:spPr bwMode="auto">
            <a:xfrm>
              <a:off x="9982201" y="4465638"/>
              <a:ext cx="1588" cy="1587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Freeform 439@|5FFC:0|FBC:0|LFC:0|LBC:16777215"/>
            <p:cNvSpPr/>
            <p:nvPr/>
          </p:nvSpPr>
          <p:spPr bwMode="auto">
            <a:xfrm>
              <a:off x="9990138" y="4467225"/>
              <a:ext cx="0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Freeform 440@|5FFC:0|FBC:0|LFC:0|LBC:16777215"/>
            <p:cNvSpPr/>
            <p:nvPr/>
          </p:nvSpPr>
          <p:spPr bwMode="auto">
            <a:xfrm>
              <a:off x="9986963" y="44672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Freeform 441@|5FFC:0|FBC:0|LFC:0|LBC:16777215"/>
            <p:cNvSpPr/>
            <p:nvPr/>
          </p:nvSpPr>
          <p:spPr bwMode="auto">
            <a:xfrm>
              <a:off x="9993313" y="4467225"/>
              <a:ext cx="1588" cy="0"/>
            </a:xfrm>
            <a:custGeom>
              <a:avLst/>
              <a:gdLst>
                <a:gd name="T0" fmla="*/ 0 w 1"/>
                <a:gd name="T1" fmla="*/ 1 w 1"/>
                <a:gd name="T2" fmla="*/ 0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Freeform 442@|5FFC:0|FBC:0|LFC:0|LBC:16777215"/>
            <p:cNvSpPr/>
            <p:nvPr/>
          </p:nvSpPr>
          <p:spPr bwMode="auto">
            <a:xfrm>
              <a:off x="9967913" y="4459288"/>
              <a:ext cx="1588" cy="1587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Freeform 443@|5FFC:0|FBC:0|LFC:0|LBC:16777215"/>
            <p:cNvSpPr/>
            <p:nvPr/>
          </p:nvSpPr>
          <p:spPr bwMode="auto">
            <a:xfrm>
              <a:off x="9979026" y="4464050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Freeform 444@|5FFC:0|FBC:0|LFC:0|LBC:16777215"/>
            <p:cNvSpPr/>
            <p:nvPr/>
          </p:nvSpPr>
          <p:spPr bwMode="auto">
            <a:xfrm>
              <a:off x="9964738" y="4457700"/>
              <a:ext cx="0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Freeform 445@|5FFC:0|FBC:0|LFC:0|LBC:16777215"/>
            <p:cNvSpPr/>
            <p:nvPr/>
          </p:nvSpPr>
          <p:spPr bwMode="auto">
            <a:xfrm>
              <a:off x="9971088" y="4462463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Freeform 446@|5FFC:0|FBC:0|LFC:0|LBC:16777215"/>
            <p:cNvSpPr/>
            <p:nvPr/>
          </p:nvSpPr>
          <p:spPr bwMode="auto">
            <a:xfrm>
              <a:off x="9975851" y="44640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Freeform 447@|5FFC:0|FBC:0|LFC:0|LBC:16777215"/>
            <p:cNvSpPr/>
            <p:nvPr/>
          </p:nvSpPr>
          <p:spPr bwMode="auto">
            <a:xfrm>
              <a:off x="9998076" y="44672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Freeform 448@|5FFC:0|FBC:0|LFC:0|LBC:16777215"/>
            <p:cNvSpPr/>
            <p:nvPr/>
          </p:nvSpPr>
          <p:spPr bwMode="auto">
            <a:xfrm>
              <a:off x="10015538" y="4459288"/>
              <a:ext cx="1588" cy="0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Freeform 449@|5FFC:0|FBC:0|LFC:0|LBC:16777215"/>
            <p:cNvSpPr/>
            <p:nvPr/>
          </p:nvSpPr>
          <p:spPr bwMode="auto">
            <a:xfrm>
              <a:off x="9955213" y="4300538"/>
              <a:ext cx="6350" cy="9525"/>
            </a:xfrm>
            <a:custGeom>
              <a:avLst/>
              <a:gdLst>
                <a:gd name="T0" fmla="*/ 0 w 7"/>
                <a:gd name="T1" fmla="*/ 9 h 9"/>
                <a:gd name="T2" fmla="*/ 7 w 7"/>
                <a:gd name="T3" fmla="*/ 0 h 9"/>
                <a:gd name="T4" fmla="*/ 6 w 7"/>
                <a:gd name="T5" fmla="*/ 1 h 9"/>
                <a:gd name="T6" fmla="*/ 0 w 7"/>
                <a:gd name="T7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9">
                  <a:moveTo>
                    <a:pt x="0" y="9"/>
                  </a:moveTo>
                  <a:cubicBezTo>
                    <a:pt x="2" y="6"/>
                    <a:pt x="4" y="3"/>
                    <a:pt x="7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4" y="3"/>
                    <a:pt x="2" y="6"/>
                    <a:pt x="0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Freeform 450@|5FFC:0|FBC:0|LFC:0|LBC:16777215"/>
            <p:cNvSpPr/>
            <p:nvPr/>
          </p:nvSpPr>
          <p:spPr bwMode="auto">
            <a:xfrm>
              <a:off x="10012363" y="4460875"/>
              <a:ext cx="1588" cy="1587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Freeform 451@|5FFC:0|FBC:0|LFC:0|LBC:16777215"/>
            <p:cNvSpPr/>
            <p:nvPr/>
          </p:nvSpPr>
          <p:spPr bwMode="auto">
            <a:xfrm>
              <a:off x="10006013" y="4464050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Freeform 452@|5FFC:0|FBC:0|LFC:0|LBC:16777215"/>
            <p:cNvSpPr/>
            <p:nvPr/>
          </p:nvSpPr>
          <p:spPr bwMode="auto">
            <a:xfrm>
              <a:off x="10002838" y="4465638"/>
              <a:ext cx="1588" cy="1587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Freeform 453@|5FFC:0|FBC:0|LFC:0|LBC:16777215"/>
            <p:cNvSpPr/>
            <p:nvPr/>
          </p:nvSpPr>
          <p:spPr bwMode="auto">
            <a:xfrm>
              <a:off x="10009188" y="4462463"/>
              <a:ext cx="1588" cy="1587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Freeform 454@|5FFC:0|FBC:0|LFC:0|LBC:16777215"/>
            <p:cNvSpPr/>
            <p:nvPr/>
          </p:nvSpPr>
          <p:spPr bwMode="auto">
            <a:xfrm>
              <a:off x="9999663" y="4467225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Freeform 455@|5FFC:0|FBC:0|LFC:0|LBC:16777215"/>
            <p:cNvSpPr/>
            <p:nvPr/>
          </p:nvSpPr>
          <p:spPr bwMode="auto">
            <a:xfrm>
              <a:off x="9934576" y="43402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Freeform 456@|5FFC:0|FBC:0|LFC:0|LBC:16777215"/>
            <p:cNvSpPr/>
            <p:nvPr/>
          </p:nvSpPr>
          <p:spPr bwMode="auto">
            <a:xfrm>
              <a:off x="9925051" y="43418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Freeform 457@|5FFC:0|FBC:0|LFC:0|LBC:16777215"/>
            <p:cNvSpPr/>
            <p:nvPr/>
          </p:nvSpPr>
          <p:spPr bwMode="auto">
            <a:xfrm>
              <a:off x="9920288" y="4343400"/>
              <a:ext cx="1588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Freeform 458@|5FFC:0|FBC:0|LFC:0|LBC:16777215"/>
            <p:cNvSpPr/>
            <p:nvPr/>
          </p:nvSpPr>
          <p:spPr bwMode="auto">
            <a:xfrm>
              <a:off x="9918701" y="4344988"/>
              <a:ext cx="0" cy="1587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0 h 1"/>
                <a:gd name="T4" fmla="*/ 0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Freeform 459@|5FFC:0|FBC:0|LFC:0|LBC:16777215"/>
            <p:cNvSpPr/>
            <p:nvPr/>
          </p:nvSpPr>
          <p:spPr bwMode="auto">
            <a:xfrm>
              <a:off x="9929813" y="4340225"/>
              <a:ext cx="1588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Freeform 460@|5FFC:0|FBC:0|LFC:0|LBC:16777215"/>
            <p:cNvSpPr/>
            <p:nvPr/>
          </p:nvSpPr>
          <p:spPr bwMode="auto">
            <a:xfrm>
              <a:off x="9959976" y="4454525"/>
              <a:ext cx="1588" cy="1587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Freeform 461@|5FFC:0|FBC:0|LFC:0|LBC:16777215"/>
            <p:cNvSpPr/>
            <p:nvPr/>
          </p:nvSpPr>
          <p:spPr bwMode="auto">
            <a:xfrm>
              <a:off x="9915526" y="4346575"/>
              <a:ext cx="0" cy="1587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0 h 1"/>
                <a:gd name="T4" fmla="*/ 0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1" y="1"/>
                    <a:pt x="1" y="0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Freeform 462@|5FFC:0|FBC:0|LFC:0|LBC:16777215"/>
            <p:cNvSpPr/>
            <p:nvPr/>
          </p:nvSpPr>
          <p:spPr bwMode="auto">
            <a:xfrm>
              <a:off x="9928226" y="4341813"/>
              <a:ext cx="0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Freeform 463@|5FFC:0|FBC:0|LFC:0|LBC:16777215"/>
            <p:cNvSpPr/>
            <p:nvPr/>
          </p:nvSpPr>
          <p:spPr bwMode="auto">
            <a:xfrm>
              <a:off x="9956801" y="4452938"/>
              <a:ext cx="0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Freeform 464@|5FFC:0|FBC:0|LFC:0|LBC:16777215"/>
            <p:cNvSpPr/>
            <p:nvPr/>
          </p:nvSpPr>
          <p:spPr bwMode="auto">
            <a:xfrm>
              <a:off x="9948863" y="4448175"/>
              <a:ext cx="1588" cy="0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Freeform 465@|5FFC:0|FBC:0|LFC:0|LBC:16777215"/>
            <p:cNvSpPr/>
            <p:nvPr/>
          </p:nvSpPr>
          <p:spPr bwMode="auto">
            <a:xfrm>
              <a:off x="9937751" y="4438650"/>
              <a:ext cx="1588" cy="0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Freeform 466@|5FFC:0|FBC:0|LFC:0|LBC:16777215"/>
            <p:cNvSpPr/>
            <p:nvPr/>
          </p:nvSpPr>
          <p:spPr bwMode="auto">
            <a:xfrm>
              <a:off x="9952038" y="4449763"/>
              <a:ext cx="1588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Freeform 467@|5FFC:0|FBC:0|LFC:0|LBC:16777215"/>
            <p:cNvSpPr/>
            <p:nvPr/>
          </p:nvSpPr>
          <p:spPr bwMode="auto">
            <a:xfrm>
              <a:off x="9945688" y="444500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Freeform 468@|5FFC:0|FBC:0|LFC:0|LBC:16777215"/>
            <p:cNvSpPr/>
            <p:nvPr/>
          </p:nvSpPr>
          <p:spPr bwMode="auto">
            <a:xfrm>
              <a:off x="9942513" y="4440238"/>
              <a:ext cx="0" cy="1587"/>
            </a:xfrm>
            <a:custGeom>
              <a:avLst/>
              <a:gdLst>
                <a:gd name="T0" fmla="*/ 1 h 1"/>
                <a:gd name="T1" fmla="*/ 0 h 1"/>
                <a:gd name="T2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Freeform 469@|5FFC:0|FBC:0|LFC:0|LBC:16777215"/>
            <p:cNvSpPr/>
            <p:nvPr/>
          </p:nvSpPr>
          <p:spPr bwMode="auto">
            <a:xfrm>
              <a:off x="10002838" y="4225925"/>
              <a:ext cx="139700" cy="141287"/>
            </a:xfrm>
            <a:custGeom>
              <a:avLst/>
              <a:gdLst>
                <a:gd name="T0" fmla="*/ 56 w 147"/>
                <a:gd name="T1" fmla="*/ 91 h 147"/>
                <a:gd name="T2" fmla="*/ 92 w 147"/>
                <a:gd name="T3" fmla="*/ 143 h 147"/>
                <a:gd name="T4" fmla="*/ 93 w 147"/>
                <a:gd name="T5" fmla="*/ 147 h 147"/>
                <a:gd name="T6" fmla="*/ 123 w 147"/>
                <a:gd name="T7" fmla="*/ 135 h 147"/>
                <a:gd name="T8" fmla="*/ 99 w 147"/>
                <a:gd name="T9" fmla="*/ 48 h 147"/>
                <a:gd name="T10" fmla="*/ 11 w 147"/>
                <a:gd name="T11" fmla="*/ 24 h 147"/>
                <a:gd name="T12" fmla="*/ 0 w 147"/>
                <a:gd name="T13" fmla="*/ 54 h 147"/>
                <a:gd name="T14" fmla="*/ 56 w 147"/>
                <a:gd name="T15" fmla="*/ 91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7" h="147">
                  <a:moveTo>
                    <a:pt x="56" y="91"/>
                  </a:moveTo>
                  <a:cubicBezTo>
                    <a:pt x="74" y="109"/>
                    <a:pt x="86" y="126"/>
                    <a:pt x="92" y="143"/>
                  </a:cubicBezTo>
                  <a:cubicBezTo>
                    <a:pt x="92" y="144"/>
                    <a:pt x="93" y="145"/>
                    <a:pt x="93" y="147"/>
                  </a:cubicBezTo>
                  <a:cubicBezTo>
                    <a:pt x="104" y="147"/>
                    <a:pt x="114" y="144"/>
                    <a:pt x="123" y="135"/>
                  </a:cubicBezTo>
                  <a:cubicBezTo>
                    <a:pt x="147" y="111"/>
                    <a:pt x="128" y="77"/>
                    <a:pt x="99" y="48"/>
                  </a:cubicBezTo>
                  <a:cubicBezTo>
                    <a:pt x="70" y="19"/>
                    <a:pt x="36" y="0"/>
                    <a:pt x="11" y="24"/>
                  </a:cubicBezTo>
                  <a:cubicBezTo>
                    <a:pt x="3" y="33"/>
                    <a:pt x="0" y="43"/>
                    <a:pt x="0" y="54"/>
                  </a:cubicBezTo>
                  <a:cubicBezTo>
                    <a:pt x="18" y="59"/>
                    <a:pt x="37" y="71"/>
                    <a:pt x="56" y="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Freeform 470@|5FFC:0|FBC:0|LFC:0|LBC:16777215"/>
            <p:cNvSpPr/>
            <p:nvPr/>
          </p:nvSpPr>
          <p:spPr bwMode="auto">
            <a:xfrm>
              <a:off x="9890126" y="4338638"/>
              <a:ext cx="152400" cy="128587"/>
            </a:xfrm>
            <a:custGeom>
              <a:avLst/>
              <a:gdLst>
                <a:gd name="T0" fmla="*/ 66 w 160"/>
                <a:gd name="T1" fmla="*/ 3 h 134"/>
                <a:gd name="T2" fmla="*/ 62 w 160"/>
                <a:gd name="T3" fmla="*/ 2 h 134"/>
                <a:gd name="T4" fmla="*/ 58 w 160"/>
                <a:gd name="T5" fmla="*/ 1 h 134"/>
                <a:gd name="T6" fmla="*/ 54 w 160"/>
                <a:gd name="T7" fmla="*/ 1 h 134"/>
                <a:gd name="T8" fmla="*/ 51 w 160"/>
                <a:gd name="T9" fmla="*/ 0 h 134"/>
                <a:gd name="T10" fmla="*/ 47 w 160"/>
                <a:gd name="T11" fmla="*/ 1 h 134"/>
                <a:gd name="T12" fmla="*/ 44 w 160"/>
                <a:gd name="T13" fmla="*/ 1 h 134"/>
                <a:gd name="T14" fmla="*/ 41 w 160"/>
                <a:gd name="T15" fmla="*/ 2 h 134"/>
                <a:gd name="T16" fmla="*/ 37 w 160"/>
                <a:gd name="T17" fmla="*/ 3 h 134"/>
                <a:gd name="T18" fmla="*/ 34 w 160"/>
                <a:gd name="T19" fmla="*/ 5 h 134"/>
                <a:gd name="T20" fmla="*/ 31 w 160"/>
                <a:gd name="T21" fmla="*/ 6 h 134"/>
                <a:gd name="T22" fmla="*/ 28 w 160"/>
                <a:gd name="T23" fmla="*/ 8 h 134"/>
                <a:gd name="T24" fmla="*/ 24 w 160"/>
                <a:gd name="T25" fmla="*/ 12 h 134"/>
                <a:gd name="T26" fmla="*/ 51 w 160"/>
                <a:gd name="T27" fmla="*/ 103 h 134"/>
                <a:gd name="T28" fmla="*/ 55 w 160"/>
                <a:gd name="T29" fmla="*/ 106 h 134"/>
                <a:gd name="T30" fmla="*/ 59 w 160"/>
                <a:gd name="T31" fmla="*/ 110 h 134"/>
                <a:gd name="T32" fmla="*/ 62 w 160"/>
                <a:gd name="T33" fmla="*/ 113 h 134"/>
                <a:gd name="T34" fmla="*/ 66 w 160"/>
                <a:gd name="T35" fmla="*/ 116 h 134"/>
                <a:gd name="T36" fmla="*/ 70 w 160"/>
                <a:gd name="T37" fmla="*/ 119 h 134"/>
                <a:gd name="T38" fmla="*/ 74 w 160"/>
                <a:gd name="T39" fmla="*/ 121 h 134"/>
                <a:gd name="T40" fmla="*/ 78 w 160"/>
                <a:gd name="T41" fmla="*/ 124 h 134"/>
                <a:gd name="T42" fmla="*/ 82 w 160"/>
                <a:gd name="T43" fmla="*/ 126 h 134"/>
                <a:gd name="T44" fmla="*/ 86 w 160"/>
                <a:gd name="T45" fmla="*/ 128 h 134"/>
                <a:gd name="T46" fmla="*/ 90 w 160"/>
                <a:gd name="T47" fmla="*/ 130 h 134"/>
                <a:gd name="T48" fmla="*/ 94 w 160"/>
                <a:gd name="T49" fmla="*/ 131 h 134"/>
                <a:gd name="T50" fmla="*/ 97 w 160"/>
                <a:gd name="T51" fmla="*/ 132 h 134"/>
                <a:gd name="T52" fmla="*/ 102 w 160"/>
                <a:gd name="T53" fmla="*/ 133 h 134"/>
                <a:gd name="T54" fmla="*/ 105 w 160"/>
                <a:gd name="T55" fmla="*/ 134 h 134"/>
                <a:gd name="T56" fmla="*/ 109 w 160"/>
                <a:gd name="T57" fmla="*/ 134 h 134"/>
                <a:gd name="T58" fmla="*/ 113 w 160"/>
                <a:gd name="T59" fmla="*/ 134 h 134"/>
                <a:gd name="T60" fmla="*/ 116 w 160"/>
                <a:gd name="T61" fmla="*/ 133 h 134"/>
                <a:gd name="T62" fmla="*/ 119 w 160"/>
                <a:gd name="T63" fmla="*/ 133 h 134"/>
                <a:gd name="T64" fmla="*/ 122 w 160"/>
                <a:gd name="T65" fmla="*/ 131 h 134"/>
                <a:gd name="T66" fmla="*/ 126 w 160"/>
                <a:gd name="T67" fmla="*/ 130 h 134"/>
                <a:gd name="T68" fmla="*/ 129 w 160"/>
                <a:gd name="T69" fmla="*/ 128 h 134"/>
                <a:gd name="T70" fmla="*/ 132 w 160"/>
                <a:gd name="T71" fmla="*/ 126 h 134"/>
                <a:gd name="T72" fmla="*/ 135 w 160"/>
                <a:gd name="T73" fmla="*/ 12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0" h="134">
                  <a:moveTo>
                    <a:pt x="112" y="35"/>
                  </a:moveTo>
                  <a:cubicBezTo>
                    <a:pt x="97" y="20"/>
                    <a:pt x="81" y="8"/>
                    <a:pt x="66" y="3"/>
                  </a:cubicBezTo>
                  <a:cubicBezTo>
                    <a:pt x="66" y="3"/>
                    <a:pt x="65" y="3"/>
                    <a:pt x="65" y="3"/>
                  </a:cubicBezTo>
                  <a:cubicBezTo>
                    <a:pt x="64" y="3"/>
                    <a:pt x="63" y="2"/>
                    <a:pt x="62" y="2"/>
                  </a:cubicBezTo>
                  <a:cubicBezTo>
                    <a:pt x="62" y="2"/>
                    <a:pt x="62" y="2"/>
                    <a:pt x="61" y="2"/>
                  </a:cubicBezTo>
                  <a:cubicBezTo>
                    <a:pt x="60" y="2"/>
                    <a:pt x="59" y="1"/>
                    <a:pt x="58" y="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7" y="1"/>
                    <a:pt x="56" y="1"/>
                    <a:pt x="54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3" y="0"/>
                    <a:pt x="52" y="0"/>
                    <a:pt x="51" y="0"/>
                  </a:cubicBezTo>
                  <a:cubicBezTo>
                    <a:pt x="51" y="0"/>
                    <a:pt x="50" y="0"/>
                    <a:pt x="50" y="0"/>
                  </a:cubicBezTo>
                  <a:cubicBezTo>
                    <a:pt x="49" y="0"/>
                    <a:pt x="48" y="0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6" y="1"/>
                    <a:pt x="45" y="1"/>
                    <a:pt x="44" y="1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2" y="1"/>
                    <a:pt x="41" y="2"/>
                    <a:pt x="41" y="2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2"/>
                    <a:pt x="38" y="3"/>
                    <a:pt x="37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6" y="4"/>
                    <a:pt x="35" y="4"/>
                    <a:pt x="34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2" y="5"/>
                    <a:pt x="32" y="6"/>
                    <a:pt x="31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29" y="7"/>
                    <a:pt x="28" y="8"/>
                    <a:pt x="28" y="8"/>
                  </a:cubicBezTo>
                  <a:cubicBezTo>
                    <a:pt x="28" y="9"/>
                    <a:pt x="27" y="9"/>
                    <a:pt x="27" y="9"/>
                  </a:cubicBezTo>
                  <a:cubicBezTo>
                    <a:pt x="26" y="10"/>
                    <a:pt x="25" y="11"/>
                    <a:pt x="24" y="12"/>
                  </a:cubicBezTo>
                  <a:cubicBezTo>
                    <a:pt x="0" y="36"/>
                    <a:pt x="19" y="70"/>
                    <a:pt x="48" y="99"/>
                  </a:cubicBezTo>
                  <a:cubicBezTo>
                    <a:pt x="49" y="100"/>
                    <a:pt x="50" y="102"/>
                    <a:pt x="51" y="103"/>
                  </a:cubicBezTo>
                  <a:cubicBezTo>
                    <a:pt x="51" y="103"/>
                    <a:pt x="52" y="103"/>
                    <a:pt x="52" y="104"/>
                  </a:cubicBezTo>
                  <a:cubicBezTo>
                    <a:pt x="53" y="104"/>
                    <a:pt x="54" y="105"/>
                    <a:pt x="55" y="106"/>
                  </a:cubicBezTo>
                  <a:cubicBezTo>
                    <a:pt x="55" y="106"/>
                    <a:pt x="55" y="106"/>
                    <a:pt x="55" y="107"/>
                  </a:cubicBezTo>
                  <a:cubicBezTo>
                    <a:pt x="57" y="108"/>
                    <a:pt x="58" y="109"/>
                    <a:pt x="59" y="110"/>
                  </a:cubicBezTo>
                  <a:cubicBezTo>
                    <a:pt x="59" y="110"/>
                    <a:pt x="59" y="110"/>
                    <a:pt x="59" y="110"/>
                  </a:cubicBezTo>
                  <a:cubicBezTo>
                    <a:pt x="60" y="111"/>
                    <a:pt x="61" y="112"/>
                    <a:pt x="62" y="113"/>
                  </a:cubicBezTo>
                  <a:cubicBezTo>
                    <a:pt x="63" y="113"/>
                    <a:pt x="63" y="113"/>
                    <a:pt x="63" y="114"/>
                  </a:cubicBezTo>
                  <a:cubicBezTo>
                    <a:pt x="64" y="114"/>
                    <a:pt x="65" y="115"/>
                    <a:pt x="66" y="116"/>
                  </a:cubicBezTo>
                  <a:cubicBezTo>
                    <a:pt x="66" y="116"/>
                    <a:pt x="67" y="116"/>
                    <a:pt x="67" y="116"/>
                  </a:cubicBezTo>
                  <a:cubicBezTo>
                    <a:pt x="68" y="117"/>
                    <a:pt x="69" y="118"/>
                    <a:pt x="70" y="119"/>
                  </a:cubicBezTo>
                  <a:cubicBezTo>
                    <a:pt x="71" y="119"/>
                    <a:pt x="71" y="119"/>
                    <a:pt x="71" y="119"/>
                  </a:cubicBezTo>
                  <a:cubicBezTo>
                    <a:pt x="72" y="120"/>
                    <a:pt x="73" y="121"/>
                    <a:pt x="74" y="121"/>
                  </a:cubicBezTo>
                  <a:cubicBezTo>
                    <a:pt x="74" y="121"/>
                    <a:pt x="75" y="122"/>
                    <a:pt x="75" y="122"/>
                  </a:cubicBezTo>
                  <a:cubicBezTo>
                    <a:pt x="76" y="123"/>
                    <a:pt x="77" y="123"/>
                    <a:pt x="78" y="124"/>
                  </a:cubicBezTo>
                  <a:cubicBezTo>
                    <a:pt x="78" y="124"/>
                    <a:pt x="78" y="124"/>
                    <a:pt x="79" y="124"/>
                  </a:cubicBezTo>
                  <a:cubicBezTo>
                    <a:pt x="80" y="125"/>
                    <a:pt x="81" y="125"/>
                    <a:pt x="82" y="126"/>
                  </a:cubicBezTo>
                  <a:cubicBezTo>
                    <a:pt x="82" y="126"/>
                    <a:pt x="83" y="126"/>
                    <a:pt x="83" y="127"/>
                  </a:cubicBezTo>
                  <a:cubicBezTo>
                    <a:pt x="84" y="127"/>
                    <a:pt x="85" y="127"/>
                    <a:pt x="86" y="128"/>
                  </a:cubicBezTo>
                  <a:cubicBezTo>
                    <a:pt x="86" y="128"/>
                    <a:pt x="86" y="128"/>
                    <a:pt x="87" y="128"/>
                  </a:cubicBezTo>
                  <a:cubicBezTo>
                    <a:pt x="88" y="129"/>
                    <a:pt x="89" y="129"/>
                    <a:pt x="90" y="130"/>
                  </a:cubicBezTo>
                  <a:cubicBezTo>
                    <a:pt x="90" y="130"/>
                    <a:pt x="90" y="130"/>
                    <a:pt x="90" y="130"/>
                  </a:cubicBezTo>
                  <a:cubicBezTo>
                    <a:pt x="91" y="130"/>
                    <a:pt x="93" y="131"/>
                    <a:pt x="94" y="131"/>
                  </a:cubicBezTo>
                  <a:cubicBezTo>
                    <a:pt x="94" y="131"/>
                    <a:pt x="94" y="131"/>
                    <a:pt x="95" y="131"/>
                  </a:cubicBezTo>
                  <a:cubicBezTo>
                    <a:pt x="95" y="132"/>
                    <a:pt x="96" y="132"/>
                    <a:pt x="97" y="132"/>
                  </a:cubicBezTo>
                  <a:cubicBezTo>
                    <a:pt x="98" y="132"/>
                    <a:pt x="98" y="132"/>
                    <a:pt x="98" y="133"/>
                  </a:cubicBezTo>
                  <a:cubicBezTo>
                    <a:pt x="99" y="133"/>
                    <a:pt x="100" y="133"/>
                    <a:pt x="102" y="133"/>
                  </a:cubicBezTo>
                  <a:cubicBezTo>
                    <a:pt x="102" y="133"/>
                    <a:pt x="102" y="133"/>
                    <a:pt x="102" y="133"/>
                  </a:cubicBezTo>
                  <a:cubicBezTo>
                    <a:pt x="103" y="133"/>
                    <a:pt x="104" y="134"/>
                    <a:pt x="105" y="134"/>
                  </a:cubicBezTo>
                  <a:cubicBezTo>
                    <a:pt x="105" y="134"/>
                    <a:pt x="106" y="134"/>
                    <a:pt x="106" y="134"/>
                  </a:cubicBezTo>
                  <a:cubicBezTo>
                    <a:pt x="107" y="134"/>
                    <a:pt x="108" y="134"/>
                    <a:pt x="109" y="134"/>
                  </a:cubicBezTo>
                  <a:cubicBezTo>
                    <a:pt x="109" y="134"/>
                    <a:pt x="109" y="134"/>
                    <a:pt x="110" y="134"/>
                  </a:cubicBezTo>
                  <a:cubicBezTo>
                    <a:pt x="111" y="134"/>
                    <a:pt x="112" y="134"/>
                    <a:pt x="113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4"/>
                    <a:pt x="115" y="134"/>
                    <a:pt x="116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7" y="133"/>
                    <a:pt x="118" y="133"/>
                    <a:pt x="119" y="133"/>
                  </a:cubicBezTo>
                  <a:cubicBezTo>
                    <a:pt x="119" y="133"/>
                    <a:pt x="120" y="132"/>
                    <a:pt x="120" y="132"/>
                  </a:cubicBezTo>
                  <a:cubicBezTo>
                    <a:pt x="121" y="132"/>
                    <a:pt x="122" y="132"/>
                    <a:pt x="122" y="131"/>
                  </a:cubicBezTo>
                  <a:cubicBezTo>
                    <a:pt x="123" y="131"/>
                    <a:pt x="123" y="131"/>
                    <a:pt x="123" y="131"/>
                  </a:cubicBezTo>
                  <a:cubicBezTo>
                    <a:pt x="124" y="131"/>
                    <a:pt x="125" y="130"/>
                    <a:pt x="126" y="130"/>
                  </a:cubicBezTo>
                  <a:cubicBezTo>
                    <a:pt x="126" y="130"/>
                    <a:pt x="126" y="130"/>
                    <a:pt x="127" y="129"/>
                  </a:cubicBezTo>
                  <a:cubicBezTo>
                    <a:pt x="127" y="129"/>
                    <a:pt x="128" y="129"/>
                    <a:pt x="129" y="128"/>
                  </a:cubicBezTo>
                  <a:cubicBezTo>
                    <a:pt x="129" y="128"/>
                    <a:pt x="129" y="128"/>
                    <a:pt x="130" y="127"/>
                  </a:cubicBezTo>
                  <a:cubicBezTo>
                    <a:pt x="130" y="127"/>
                    <a:pt x="131" y="126"/>
                    <a:pt x="132" y="126"/>
                  </a:cubicBezTo>
                  <a:cubicBezTo>
                    <a:pt x="132" y="126"/>
                    <a:pt x="132" y="125"/>
                    <a:pt x="133" y="125"/>
                  </a:cubicBezTo>
                  <a:cubicBezTo>
                    <a:pt x="134" y="124"/>
                    <a:pt x="134" y="124"/>
                    <a:pt x="135" y="123"/>
                  </a:cubicBezTo>
                  <a:cubicBezTo>
                    <a:pt x="160" y="98"/>
                    <a:pt x="141" y="64"/>
                    <a:pt x="112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Freeform 471@|5FFC:0|FBC:0|LFC:0|LBC:16777215"/>
            <p:cNvSpPr/>
            <p:nvPr/>
          </p:nvSpPr>
          <p:spPr bwMode="auto">
            <a:xfrm>
              <a:off x="9950451" y="4291013"/>
              <a:ext cx="230188" cy="223837"/>
            </a:xfrm>
            <a:custGeom>
              <a:avLst/>
              <a:gdLst>
                <a:gd name="T0" fmla="*/ 228 w 240"/>
                <a:gd name="T1" fmla="*/ 183 h 233"/>
                <a:gd name="T2" fmla="*/ 149 w 240"/>
                <a:gd name="T3" fmla="*/ 104 h 233"/>
                <a:gd name="T4" fmla="*/ 132 w 240"/>
                <a:gd name="T5" fmla="*/ 88 h 233"/>
                <a:gd name="T6" fmla="*/ 99 w 240"/>
                <a:gd name="T7" fmla="*/ 34 h 233"/>
                <a:gd name="T8" fmla="*/ 37 w 240"/>
                <a:gd name="T9" fmla="*/ 0 h 233"/>
                <a:gd name="T10" fmla="*/ 12 w 240"/>
                <a:gd name="T11" fmla="*/ 10 h 233"/>
                <a:gd name="T12" fmla="*/ 5 w 240"/>
                <a:gd name="T13" fmla="*/ 19 h 233"/>
                <a:gd name="T14" fmla="*/ 0 w 240"/>
                <a:gd name="T15" fmla="*/ 35 h 233"/>
                <a:gd name="T16" fmla="*/ 60 w 240"/>
                <a:gd name="T17" fmla="*/ 73 h 233"/>
                <a:gd name="T18" fmla="*/ 98 w 240"/>
                <a:gd name="T19" fmla="*/ 135 h 233"/>
                <a:gd name="T20" fmla="*/ 111 w 240"/>
                <a:gd name="T21" fmla="*/ 148 h 233"/>
                <a:gd name="T22" fmla="*/ 187 w 240"/>
                <a:gd name="T23" fmla="*/ 224 h 233"/>
                <a:gd name="T24" fmla="*/ 208 w 240"/>
                <a:gd name="T25" fmla="*/ 233 h 233"/>
                <a:gd name="T26" fmla="*/ 228 w 240"/>
                <a:gd name="T27" fmla="*/ 224 h 233"/>
                <a:gd name="T28" fmla="*/ 228 w 240"/>
                <a:gd name="T29" fmla="*/ 183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0" h="233">
                  <a:moveTo>
                    <a:pt x="228" y="183"/>
                  </a:moveTo>
                  <a:cubicBezTo>
                    <a:pt x="149" y="104"/>
                    <a:pt x="149" y="104"/>
                    <a:pt x="149" y="104"/>
                  </a:cubicBezTo>
                  <a:cubicBezTo>
                    <a:pt x="132" y="88"/>
                    <a:pt x="132" y="88"/>
                    <a:pt x="132" y="88"/>
                  </a:cubicBezTo>
                  <a:cubicBezTo>
                    <a:pt x="129" y="70"/>
                    <a:pt x="116" y="51"/>
                    <a:pt x="99" y="34"/>
                  </a:cubicBezTo>
                  <a:cubicBezTo>
                    <a:pt x="79" y="15"/>
                    <a:pt x="57" y="0"/>
                    <a:pt x="37" y="0"/>
                  </a:cubicBezTo>
                  <a:cubicBezTo>
                    <a:pt x="28" y="0"/>
                    <a:pt x="19" y="3"/>
                    <a:pt x="12" y="10"/>
                  </a:cubicBezTo>
                  <a:cubicBezTo>
                    <a:pt x="9" y="13"/>
                    <a:pt x="7" y="16"/>
                    <a:pt x="5" y="19"/>
                  </a:cubicBezTo>
                  <a:cubicBezTo>
                    <a:pt x="2" y="24"/>
                    <a:pt x="0" y="30"/>
                    <a:pt x="0" y="35"/>
                  </a:cubicBezTo>
                  <a:cubicBezTo>
                    <a:pt x="18" y="40"/>
                    <a:pt x="39" y="52"/>
                    <a:pt x="60" y="73"/>
                  </a:cubicBezTo>
                  <a:cubicBezTo>
                    <a:pt x="84" y="98"/>
                    <a:pt x="95" y="118"/>
                    <a:pt x="98" y="135"/>
                  </a:cubicBezTo>
                  <a:cubicBezTo>
                    <a:pt x="111" y="148"/>
                    <a:pt x="111" y="148"/>
                    <a:pt x="111" y="148"/>
                  </a:cubicBezTo>
                  <a:cubicBezTo>
                    <a:pt x="187" y="224"/>
                    <a:pt x="187" y="224"/>
                    <a:pt x="187" y="224"/>
                  </a:cubicBezTo>
                  <a:cubicBezTo>
                    <a:pt x="193" y="230"/>
                    <a:pt x="200" y="233"/>
                    <a:pt x="208" y="233"/>
                  </a:cubicBezTo>
                  <a:cubicBezTo>
                    <a:pt x="215" y="233"/>
                    <a:pt x="223" y="230"/>
                    <a:pt x="228" y="224"/>
                  </a:cubicBezTo>
                  <a:cubicBezTo>
                    <a:pt x="240" y="213"/>
                    <a:pt x="240" y="195"/>
                    <a:pt x="228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6618227" y="2794031"/>
            <a:ext cx="472891" cy="472891"/>
            <a:chOff x="528638" y="3135313"/>
            <a:chExt cx="276225" cy="276225"/>
          </a:xfrm>
          <a:solidFill>
            <a:srgbClr val="404040"/>
          </a:solidFill>
        </p:grpSpPr>
        <p:sp>
          <p:nvSpPr>
            <p:cNvPr id="61" name="Freeform 375@|5FFC:0|FBC:0|LFC:0|LBC:16777215"/>
            <p:cNvSpPr>
              <a:spLocks noEditPoints="1"/>
            </p:cNvSpPr>
            <p:nvPr/>
          </p:nvSpPr>
          <p:spPr bwMode="auto">
            <a:xfrm>
              <a:off x="528638" y="3135313"/>
              <a:ext cx="276225" cy="276225"/>
            </a:xfrm>
            <a:custGeom>
              <a:avLst/>
              <a:gdLst>
                <a:gd name="T0" fmla="*/ 144 w 289"/>
                <a:gd name="T1" fmla="*/ 0 h 288"/>
                <a:gd name="T2" fmla="*/ 0 w 289"/>
                <a:gd name="T3" fmla="*/ 144 h 288"/>
                <a:gd name="T4" fmla="*/ 144 w 289"/>
                <a:gd name="T5" fmla="*/ 288 h 288"/>
                <a:gd name="T6" fmla="*/ 289 w 289"/>
                <a:gd name="T7" fmla="*/ 144 h 288"/>
                <a:gd name="T8" fmla="*/ 144 w 289"/>
                <a:gd name="T9" fmla="*/ 0 h 288"/>
                <a:gd name="T10" fmla="*/ 144 w 289"/>
                <a:gd name="T11" fmla="*/ 267 h 288"/>
                <a:gd name="T12" fmla="*/ 21 w 289"/>
                <a:gd name="T13" fmla="*/ 144 h 288"/>
                <a:gd name="T14" fmla="*/ 144 w 289"/>
                <a:gd name="T15" fmla="*/ 20 h 288"/>
                <a:gd name="T16" fmla="*/ 268 w 289"/>
                <a:gd name="T17" fmla="*/ 144 h 288"/>
                <a:gd name="T18" fmla="*/ 144 w 289"/>
                <a:gd name="T19" fmla="*/ 267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9" h="288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224"/>
                    <a:pt x="65" y="288"/>
                    <a:pt x="144" y="288"/>
                  </a:cubicBezTo>
                  <a:cubicBezTo>
                    <a:pt x="224" y="288"/>
                    <a:pt x="289" y="224"/>
                    <a:pt x="289" y="144"/>
                  </a:cubicBezTo>
                  <a:cubicBezTo>
                    <a:pt x="289" y="64"/>
                    <a:pt x="224" y="0"/>
                    <a:pt x="144" y="0"/>
                  </a:cubicBezTo>
                  <a:close/>
                  <a:moveTo>
                    <a:pt x="144" y="267"/>
                  </a:moveTo>
                  <a:cubicBezTo>
                    <a:pt x="76" y="267"/>
                    <a:pt x="21" y="212"/>
                    <a:pt x="21" y="144"/>
                  </a:cubicBezTo>
                  <a:cubicBezTo>
                    <a:pt x="21" y="76"/>
                    <a:pt x="76" y="20"/>
                    <a:pt x="144" y="20"/>
                  </a:cubicBezTo>
                  <a:cubicBezTo>
                    <a:pt x="213" y="20"/>
                    <a:pt x="268" y="76"/>
                    <a:pt x="268" y="144"/>
                  </a:cubicBezTo>
                  <a:cubicBezTo>
                    <a:pt x="268" y="212"/>
                    <a:pt x="213" y="267"/>
                    <a:pt x="144" y="2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Freeform 376@|5FFC:0|FBC:0|LFC:0|LBC:16777215"/>
            <p:cNvSpPr/>
            <p:nvPr/>
          </p:nvSpPr>
          <p:spPr bwMode="auto">
            <a:xfrm>
              <a:off x="673101" y="3287713"/>
              <a:ext cx="14288" cy="36512"/>
            </a:xfrm>
            <a:custGeom>
              <a:avLst/>
              <a:gdLst>
                <a:gd name="T0" fmla="*/ 0 w 15"/>
                <a:gd name="T1" fmla="*/ 0 h 38"/>
                <a:gd name="T2" fmla="*/ 0 w 15"/>
                <a:gd name="T3" fmla="*/ 38 h 38"/>
                <a:gd name="T4" fmla="*/ 15 w 15"/>
                <a:gd name="T5" fmla="*/ 20 h 38"/>
                <a:gd name="T6" fmla="*/ 0 w 15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38">
                  <a:moveTo>
                    <a:pt x="0" y="0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6" y="37"/>
                    <a:pt x="15" y="33"/>
                    <a:pt x="15" y="20"/>
                  </a:cubicBezTo>
                  <a:cubicBezTo>
                    <a:pt x="15" y="7"/>
                    <a:pt x="5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Freeform 377@|5FFC:0|FBC:0|LFC:0|LBC:16777215"/>
            <p:cNvSpPr/>
            <p:nvPr/>
          </p:nvSpPr>
          <p:spPr bwMode="auto">
            <a:xfrm>
              <a:off x="647701" y="3222625"/>
              <a:ext cx="14288" cy="34925"/>
            </a:xfrm>
            <a:custGeom>
              <a:avLst/>
              <a:gdLst>
                <a:gd name="T0" fmla="*/ 0 w 15"/>
                <a:gd name="T1" fmla="*/ 17 h 36"/>
                <a:gd name="T2" fmla="*/ 15 w 15"/>
                <a:gd name="T3" fmla="*/ 36 h 36"/>
                <a:gd name="T4" fmla="*/ 15 w 15"/>
                <a:gd name="T5" fmla="*/ 0 h 36"/>
                <a:gd name="T6" fmla="*/ 0 w 15"/>
                <a:gd name="T7" fmla="*/ 1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36">
                  <a:moveTo>
                    <a:pt x="0" y="17"/>
                  </a:moveTo>
                  <a:cubicBezTo>
                    <a:pt x="0" y="29"/>
                    <a:pt x="10" y="34"/>
                    <a:pt x="15" y="36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1" y="1"/>
                    <a:pt x="0" y="4"/>
                    <a:pt x="0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Freeform 378@|5FFC:0|FBC:0|LFC:0|LBC:16777215"/>
            <p:cNvSpPr>
              <a:spLocks noEditPoints="1"/>
            </p:cNvSpPr>
            <p:nvPr/>
          </p:nvSpPr>
          <p:spPr bwMode="auto">
            <a:xfrm>
              <a:off x="557213" y="3162300"/>
              <a:ext cx="220663" cy="222250"/>
            </a:xfrm>
            <a:custGeom>
              <a:avLst/>
              <a:gdLst>
                <a:gd name="T0" fmla="*/ 115 w 231"/>
                <a:gd name="T1" fmla="*/ 0 h 231"/>
                <a:gd name="T2" fmla="*/ 0 w 231"/>
                <a:gd name="T3" fmla="*/ 116 h 231"/>
                <a:gd name="T4" fmla="*/ 115 w 231"/>
                <a:gd name="T5" fmla="*/ 231 h 231"/>
                <a:gd name="T6" fmla="*/ 231 w 231"/>
                <a:gd name="T7" fmla="*/ 116 h 231"/>
                <a:gd name="T8" fmla="*/ 115 w 231"/>
                <a:gd name="T9" fmla="*/ 0 h 231"/>
                <a:gd name="T10" fmla="*/ 123 w 231"/>
                <a:gd name="T11" fmla="*/ 192 h 231"/>
                <a:gd name="T12" fmla="*/ 123 w 231"/>
                <a:gd name="T13" fmla="*/ 202 h 231"/>
                <a:gd name="T14" fmla="*/ 119 w 231"/>
                <a:gd name="T15" fmla="*/ 207 h 231"/>
                <a:gd name="T16" fmla="*/ 114 w 231"/>
                <a:gd name="T17" fmla="*/ 207 h 231"/>
                <a:gd name="T18" fmla="*/ 110 w 231"/>
                <a:gd name="T19" fmla="*/ 202 h 231"/>
                <a:gd name="T20" fmla="*/ 110 w 231"/>
                <a:gd name="T21" fmla="*/ 192 h 231"/>
                <a:gd name="T22" fmla="*/ 71 w 231"/>
                <a:gd name="T23" fmla="*/ 181 h 231"/>
                <a:gd name="T24" fmla="*/ 72 w 231"/>
                <a:gd name="T25" fmla="*/ 179 h 231"/>
                <a:gd name="T26" fmla="*/ 78 w 231"/>
                <a:gd name="T27" fmla="*/ 160 h 231"/>
                <a:gd name="T28" fmla="*/ 80 w 231"/>
                <a:gd name="T29" fmla="*/ 158 h 231"/>
                <a:gd name="T30" fmla="*/ 110 w 231"/>
                <a:gd name="T31" fmla="*/ 168 h 231"/>
                <a:gd name="T32" fmla="*/ 110 w 231"/>
                <a:gd name="T33" fmla="*/ 125 h 231"/>
                <a:gd name="T34" fmla="*/ 71 w 231"/>
                <a:gd name="T35" fmla="*/ 82 h 231"/>
                <a:gd name="T36" fmla="*/ 110 w 231"/>
                <a:gd name="T37" fmla="*/ 40 h 231"/>
                <a:gd name="T38" fmla="*/ 110 w 231"/>
                <a:gd name="T39" fmla="*/ 29 h 231"/>
                <a:gd name="T40" fmla="*/ 114 w 231"/>
                <a:gd name="T41" fmla="*/ 25 h 231"/>
                <a:gd name="T42" fmla="*/ 119 w 231"/>
                <a:gd name="T43" fmla="*/ 25 h 231"/>
                <a:gd name="T44" fmla="*/ 123 w 231"/>
                <a:gd name="T45" fmla="*/ 29 h 231"/>
                <a:gd name="T46" fmla="*/ 123 w 231"/>
                <a:gd name="T47" fmla="*/ 40 h 231"/>
                <a:gd name="T48" fmla="*/ 158 w 231"/>
                <a:gd name="T49" fmla="*/ 53 h 231"/>
                <a:gd name="T50" fmla="*/ 157 w 231"/>
                <a:gd name="T51" fmla="*/ 55 h 231"/>
                <a:gd name="T52" fmla="*/ 151 w 231"/>
                <a:gd name="T53" fmla="*/ 70 h 231"/>
                <a:gd name="T54" fmla="*/ 149 w 231"/>
                <a:gd name="T55" fmla="*/ 72 h 231"/>
                <a:gd name="T56" fmla="*/ 123 w 231"/>
                <a:gd name="T57" fmla="*/ 63 h 231"/>
                <a:gd name="T58" fmla="*/ 123 w 231"/>
                <a:gd name="T59" fmla="*/ 104 h 231"/>
                <a:gd name="T60" fmla="*/ 162 w 231"/>
                <a:gd name="T61" fmla="*/ 149 h 231"/>
                <a:gd name="T62" fmla="*/ 123 w 231"/>
                <a:gd name="T63" fmla="*/ 192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1" h="231">
                  <a:moveTo>
                    <a:pt x="115" y="0"/>
                  </a:moveTo>
                  <a:cubicBezTo>
                    <a:pt x="52" y="0"/>
                    <a:pt x="0" y="52"/>
                    <a:pt x="0" y="116"/>
                  </a:cubicBezTo>
                  <a:cubicBezTo>
                    <a:pt x="0" y="180"/>
                    <a:pt x="52" y="231"/>
                    <a:pt x="115" y="231"/>
                  </a:cubicBezTo>
                  <a:cubicBezTo>
                    <a:pt x="179" y="231"/>
                    <a:pt x="231" y="180"/>
                    <a:pt x="231" y="116"/>
                  </a:cubicBezTo>
                  <a:cubicBezTo>
                    <a:pt x="231" y="52"/>
                    <a:pt x="179" y="0"/>
                    <a:pt x="115" y="0"/>
                  </a:cubicBezTo>
                  <a:close/>
                  <a:moveTo>
                    <a:pt x="123" y="192"/>
                  </a:moveTo>
                  <a:cubicBezTo>
                    <a:pt x="123" y="202"/>
                    <a:pt x="123" y="202"/>
                    <a:pt x="123" y="202"/>
                  </a:cubicBezTo>
                  <a:cubicBezTo>
                    <a:pt x="123" y="206"/>
                    <a:pt x="123" y="207"/>
                    <a:pt x="119" y="207"/>
                  </a:cubicBezTo>
                  <a:cubicBezTo>
                    <a:pt x="114" y="207"/>
                    <a:pt x="114" y="207"/>
                    <a:pt x="114" y="207"/>
                  </a:cubicBezTo>
                  <a:cubicBezTo>
                    <a:pt x="110" y="207"/>
                    <a:pt x="110" y="206"/>
                    <a:pt x="110" y="202"/>
                  </a:cubicBezTo>
                  <a:cubicBezTo>
                    <a:pt x="110" y="192"/>
                    <a:pt x="110" y="192"/>
                    <a:pt x="110" y="192"/>
                  </a:cubicBezTo>
                  <a:cubicBezTo>
                    <a:pt x="102" y="192"/>
                    <a:pt x="71" y="187"/>
                    <a:pt x="71" y="181"/>
                  </a:cubicBezTo>
                  <a:cubicBezTo>
                    <a:pt x="71" y="180"/>
                    <a:pt x="71" y="180"/>
                    <a:pt x="72" y="17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78" y="160"/>
                    <a:pt x="79" y="158"/>
                    <a:pt x="80" y="158"/>
                  </a:cubicBezTo>
                  <a:cubicBezTo>
                    <a:pt x="81" y="158"/>
                    <a:pt x="96" y="167"/>
                    <a:pt x="110" y="168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96" y="119"/>
                    <a:pt x="71" y="111"/>
                    <a:pt x="71" y="82"/>
                  </a:cubicBezTo>
                  <a:cubicBezTo>
                    <a:pt x="71" y="50"/>
                    <a:pt x="99" y="40"/>
                    <a:pt x="110" y="40"/>
                  </a:cubicBezTo>
                  <a:cubicBezTo>
                    <a:pt x="110" y="29"/>
                    <a:pt x="110" y="29"/>
                    <a:pt x="110" y="29"/>
                  </a:cubicBezTo>
                  <a:cubicBezTo>
                    <a:pt x="110" y="25"/>
                    <a:pt x="110" y="25"/>
                    <a:pt x="114" y="25"/>
                  </a:cubicBezTo>
                  <a:cubicBezTo>
                    <a:pt x="119" y="25"/>
                    <a:pt x="119" y="25"/>
                    <a:pt x="119" y="25"/>
                  </a:cubicBezTo>
                  <a:cubicBezTo>
                    <a:pt x="123" y="25"/>
                    <a:pt x="123" y="25"/>
                    <a:pt x="123" y="29"/>
                  </a:cubicBezTo>
                  <a:cubicBezTo>
                    <a:pt x="123" y="40"/>
                    <a:pt x="123" y="40"/>
                    <a:pt x="123" y="40"/>
                  </a:cubicBezTo>
                  <a:cubicBezTo>
                    <a:pt x="130" y="40"/>
                    <a:pt x="158" y="45"/>
                    <a:pt x="158" y="53"/>
                  </a:cubicBezTo>
                  <a:cubicBezTo>
                    <a:pt x="158" y="54"/>
                    <a:pt x="158" y="54"/>
                    <a:pt x="157" y="55"/>
                  </a:cubicBezTo>
                  <a:cubicBezTo>
                    <a:pt x="151" y="70"/>
                    <a:pt x="151" y="70"/>
                    <a:pt x="151" y="70"/>
                  </a:cubicBezTo>
                  <a:cubicBezTo>
                    <a:pt x="150" y="71"/>
                    <a:pt x="150" y="72"/>
                    <a:pt x="149" y="72"/>
                  </a:cubicBezTo>
                  <a:cubicBezTo>
                    <a:pt x="147" y="72"/>
                    <a:pt x="133" y="63"/>
                    <a:pt x="123" y="63"/>
                  </a:cubicBezTo>
                  <a:cubicBezTo>
                    <a:pt x="123" y="104"/>
                    <a:pt x="123" y="104"/>
                    <a:pt x="123" y="104"/>
                  </a:cubicBezTo>
                  <a:cubicBezTo>
                    <a:pt x="138" y="111"/>
                    <a:pt x="162" y="121"/>
                    <a:pt x="162" y="149"/>
                  </a:cubicBezTo>
                  <a:cubicBezTo>
                    <a:pt x="162" y="180"/>
                    <a:pt x="138" y="190"/>
                    <a:pt x="123" y="1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5152660" y="2830503"/>
            <a:ext cx="395371" cy="319955"/>
            <a:chOff x="530226" y="4267200"/>
            <a:chExt cx="274638" cy="222250"/>
          </a:xfrm>
          <a:solidFill>
            <a:srgbClr val="404040"/>
          </a:solidFill>
        </p:grpSpPr>
        <p:sp>
          <p:nvSpPr>
            <p:cNvPr id="66" name="Freeform 316@|5FFC:0|FBC:0|LFC:0|LBC:16777215"/>
            <p:cNvSpPr/>
            <p:nvPr/>
          </p:nvSpPr>
          <p:spPr bwMode="auto">
            <a:xfrm>
              <a:off x="530226" y="4267200"/>
              <a:ext cx="274638" cy="106362"/>
            </a:xfrm>
            <a:custGeom>
              <a:avLst/>
              <a:gdLst>
                <a:gd name="T0" fmla="*/ 284 w 288"/>
                <a:gd name="T1" fmla="*/ 43 h 111"/>
                <a:gd name="T2" fmla="*/ 144 w 288"/>
                <a:gd name="T3" fmla="*/ 0 h 111"/>
                <a:gd name="T4" fmla="*/ 3 w 288"/>
                <a:gd name="T5" fmla="*/ 43 h 111"/>
                <a:gd name="T6" fmla="*/ 0 w 288"/>
                <a:gd name="T7" fmla="*/ 54 h 111"/>
                <a:gd name="T8" fmla="*/ 0 w 288"/>
                <a:gd name="T9" fmla="*/ 106 h 111"/>
                <a:gd name="T10" fmla="*/ 5 w 288"/>
                <a:gd name="T11" fmla="*/ 110 h 111"/>
                <a:gd name="T12" fmla="*/ 66 w 288"/>
                <a:gd name="T13" fmla="*/ 94 h 111"/>
                <a:gd name="T14" fmla="*/ 72 w 288"/>
                <a:gd name="T15" fmla="*/ 87 h 111"/>
                <a:gd name="T16" fmla="*/ 72 w 288"/>
                <a:gd name="T17" fmla="*/ 64 h 111"/>
                <a:gd name="T18" fmla="*/ 76 w 288"/>
                <a:gd name="T19" fmla="*/ 54 h 111"/>
                <a:gd name="T20" fmla="*/ 144 w 288"/>
                <a:gd name="T21" fmla="*/ 40 h 111"/>
                <a:gd name="T22" fmla="*/ 212 w 288"/>
                <a:gd name="T23" fmla="*/ 54 h 111"/>
                <a:gd name="T24" fmla="*/ 216 w 288"/>
                <a:gd name="T25" fmla="*/ 64 h 111"/>
                <a:gd name="T26" fmla="*/ 216 w 288"/>
                <a:gd name="T27" fmla="*/ 84 h 111"/>
                <a:gd name="T28" fmla="*/ 221 w 288"/>
                <a:gd name="T29" fmla="*/ 91 h 111"/>
                <a:gd name="T30" fmla="*/ 282 w 288"/>
                <a:gd name="T31" fmla="*/ 110 h 111"/>
                <a:gd name="T32" fmla="*/ 287 w 288"/>
                <a:gd name="T33" fmla="*/ 106 h 111"/>
                <a:gd name="T34" fmla="*/ 288 w 288"/>
                <a:gd name="T35" fmla="*/ 54 h 111"/>
                <a:gd name="T36" fmla="*/ 284 w 288"/>
                <a:gd name="T37" fmla="*/ 4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8" h="111">
                  <a:moveTo>
                    <a:pt x="284" y="43"/>
                  </a:moveTo>
                  <a:cubicBezTo>
                    <a:pt x="284" y="43"/>
                    <a:pt x="251" y="0"/>
                    <a:pt x="144" y="0"/>
                  </a:cubicBezTo>
                  <a:cubicBezTo>
                    <a:pt x="36" y="0"/>
                    <a:pt x="3" y="43"/>
                    <a:pt x="3" y="43"/>
                  </a:cubicBezTo>
                  <a:cubicBezTo>
                    <a:pt x="1" y="46"/>
                    <a:pt x="0" y="51"/>
                    <a:pt x="0" y="54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09"/>
                    <a:pt x="2" y="111"/>
                    <a:pt x="5" y="110"/>
                  </a:cubicBezTo>
                  <a:cubicBezTo>
                    <a:pt x="66" y="94"/>
                    <a:pt x="66" y="94"/>
                    <a:pt x="66" y="94"/>
                  </a:cubicBezTo>
                  <a:cubicBezTo>
                    <a:pt x="69" y="93"/>
                    <a:pt x="72" y="90"/>
                    <a:pt x="72" y="87"/>
                  </a:cubicBezTo>
                  <a:cubicBezTo>
                    <a:pt x="72" y="64"/>
                    <a:pt x="72" y="64"/>
                    <a:pt x="72" y="64"/>
                  </a:cubicBezTo>
                  <a:cubicBezTo>
                    <a:pt x="72" y="61"/>
                    <a:pt x="73" y="57"/>
                    <a:pt x="76" y="54"/>
                  </a:cubicBezTo>
                  <a:cubicBezTo>
                    <a:pt x="76" y="54"/>
                    <a:pt x="90" y="40"/>
                    <a:pt x="144" y="40"/>
                  </a:cubicBezTo>
                  <a:cubicBezTo>
                    <a:pt x="197" y="40"/>
                    <a:pt x="212" y="54"/>
                    <a:pt x="212" y="54"/>
                  </a:cubicBezTo>
                  <a:cubicBezTo>
                    <a:pt x="214" y="57"/>
                    <a:pt x="216" y="61"/>
                    <a:pt x="216" y="64"/>
                  </a:cubicBezTo>
                  <a:cubicBezTo>
                    <a:pt x="216" y="84"/>
                    <a:pt x="216" y="84"/>
                    <a:pt x="216" y="84"/>
                  </a:cubicBezTo>
                  <a:cubicBezTo>
                    <a:pt x="216" y="87"/>
                    <a:pt x="218" y="90"/>
                    <a:pt x="221" y="91"/>
                  </a:cubicBezTo>
                  <a:cubicBezTo>
                    <a:pt x="282" y="110"/>
                    <a:pt x="282" y="110"/>
                    <a:pt x="282" y="110"/>
                  </a:cubicBezTo>
                  <a:cubicBezTo>
                    <a:pt x="285" y="111"/>
                    <a:pt x="287" y="109"/>
                    <a:pt x="287" y="106"/>
                  </a:cubicBezTo>
                  <a:cubicBezTo>
                    <a:pt x="288" y="54"/>
                    <a:pt x="288" y="54"/>
                    <a:pt x="288" y="54"/>
                  </a:cubicBezTo>
                  <a:cubicBezTo>
                    <a:pt x="288" y="51"/>
                    <a:pt x="286" y="46"/>
                    <a:pt x="284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Freeform 317@|5FFC:0|FBC:0|LFC:0|LBC:16777215"/>
            <p:cNvSpPr>
              <a:spLocks noEditPoints="1"/>
            </p:cNvSpPr>
            <p:nvPr/>
          </p:nvSpPr>
          <p:spPr bwMode="auto">
            <a:xfrm>
              <a:off x="542926" y="4322763"/>
              <a:ext cx="247650" cy="166687"/>
            </a:xfrm>
            <a:custGeom>
              <a:avLst/>
              <a:gdLst>
                <a:gd name="T0" fmla="*/ 177 w 258"/>
                <a:gd name="T1" fmla="*/ 12 h 174"/>
                <a:gd name="T2" fmla="*/ 74 w 258"/>
                <a:gd name="T3" fmla="*/ 45 h 174"/>
                <a:gd name="T4" fmla="*/ 1 w 258"/>
                <a:gd name="T5" fmla="*/ 162 h 174"/>
                <a:gd name="T6" fmla="*/ 255 w 258"/>
                <a:gd name="T7" fmla="*/ 119 h 174"/>
                <a:gd name="T8" fmla="*/ 159 w 258"/>
                <a:gd name="T9" fmla="*/ 101 h 174"/>
                <a:gd name="T10" fmla="*/ 185 w 258"/>
                <a:gd name="T11" fmla="*/ 99 h 174"/>
                <a:gd name="T12" fmla="*/ 189 w 258"/>
                <a:gd name="T13" fmla="*/ 102 h 174"/>
                <a:gd name="T14" fmla="*/ 187 w 258"/>
                <a:gd name="T15" fmla="*/ 113 h 174"/>
                <a:gd name="T16" fmla="*/ 161 w 258"/>
                <a:gd name="T17" fmla="*/ 112 h 174"/>
                <a:gd name="T18" fmla="*/ 143 w 258"/>
                <a:gd name="T19" fmla="*/ 111 h 174"/>
                <a:gd name="T20" fmla="*/ 117 w 258"/>
                <a:gd name="T21" fmla="*/ 113 h 174"/>
                <a:gd name="T22" fmla="*/ 113 w 258"/>
                <a:gd name="T23" fmla="*/ 110 h 174"/>
                <a:gd name="T24" fmla="*/ 116 w 258"/>
                <a:gd name="T25" fmla="*/ 99 h 174"/>
                <a:gd name="T26" fmla="*/ 142 w 258"/>
                <a:gd name="T27" fmla="*/ 100 h 174"/>
                <a:gd name="T28" fmla="*/ 97 w 258"/>
                <a:gd name="T29" fmla="*/ 111 h 174"/>
                <a:gd name="T30" fmla="*/ 71 w 258"/>
                <a:gd name="T31" fmla="*/ 113 h 174"/>
                <a:gd name="T32" fmla="*/ 67 w 258"/>
                <a:gd name="T33" fmla="*/ 110 h 174"/>
                <a:gd name="T34" fmla="*/ 70 w 258"/>
                <a:gd name="T35" fmla="*/ 99 h 174"/>
                <a:gd name="T36" fmla="*/ 97 w 258"/>
                <a:gd name="T37" fmla="*/ 100 h 174"/>
                <a:gd name="T38" fmla="*/ 97 w 258"/>
                <a:gd name="T39" fmla="*/ 111 h 174"/>
                <a:gd name="T40" fmla="*/ 72 w 258"/>
                <a:gd name="T41" fmla="*/ 73 h 174"/>
                <a:gd name="T42" fmla="*/ 97 w 258"/>
                <a:gd name="T43" fmla="*/ 73 h 174"/>
                <a:gd name="T44" fmla="*/ 98 w 258"/>
                <a:gd name="T45" fmla="*/ 84 h 174"/>
                <a:gd name="T46" fmla="*/ 73 w 258"/>
                <a:gd name="T47" fmla="*/ 86 h 174"/>
                <a:gd name="T48" fmla="*/ 69 w 258"/>
                <a:gd name="T49" fmla="*/ 83 h 174"/>
                <a:gd name="T50" fmla="*/ 143 w 258"/>
                <a:gd name="T51" fmla="*/ 74 h 174"/>
                <a:gd name="T52" fmla="*/ 142 w 258"/>
                <a:gd name="T53" fmla="*/ 85 h 174"/>
                <a:gd name="T54" fmla="*/ 116 w 258"/>
                <a:gd name="T55" fmla="*/ 85 h 174"/>
                <a:gd name="T56" fmla="*/ 114 w 258"/>
                <a:gd name="T57" fmla="*/ 75 h 174"/>
                <a:gd name="T58" fmla="*/ 118 w 258"/>
                <a:gd name="T59" fmla="*/ 73 h 174"/>
                <a:gd name="T60" fmla="*/ 187 w 258"/>
                <a:gd name="T61" fmla="*/ 85 h 174"/>
                <a:gd name="T62" fmla="*/ 161 w 258"/>
                <a:gd name="T63" fmla="*/ 85 h 174"/>
                <a:gd name="T64" fmla="*/ 158 w 258"/>
                <a:gd name="T65" fmla="*/ 75 h 174"/>
                <a:gd name="T66" fmla="*/ 162 w 258"/>
                <a:gd name="T67" fmla="*/ 73 h 174"/>
                <a:gd name="T68" fmla="*/ 187 w 258"/>
                <a:gd name="T69" fmla="*/ 74 h 174"/>
                <a:gd name="T70" fmla="*/ 69 w 258"/>
                <a:gd name="T71" fmla="*/ 142 h 174"/>
                <a:gd name="T72" fmla="*/ 65 w 258"/>
                <a:gd name="T73" fmla="*/ 139 h 174"/>
                <a:gd name="T74" fmla="*/ 67 w 258"/>
                <a:gd name="T75" fmla="*/ 128 h 174"/>
                <a:gd name="T76" fmla="*/ 94 w 258"/>
                <a:gd name="T77" fmla="*/ 128 h 174"/>
                <a:gd name="T78" fmla="*/ 97 w 258"/>
                <a:gd name="T79" fmla="*/ 139 h 174"/>
                <a:gd name="T80" fmla="*/ 92 w 258"/>
                <a:gd name="T81" fmla="*/ 142 h 174"/>
                <a:gd name="T82" fmla="*/ 114 w 258"/>
                <a:gd name="T83" fmla="*/ 141 h 174"/>
                <a:gd name="T84" fmla="*/ 113 w 258"/>
                <a:gd name="T85" fmla="*/ 130 h 174"/>
                <a:gd name="T86" fmla="*/ 140 w 258"/>
                <a:gd name="T87" fmla="*/ 127 h 174"/>
                <a:gd name="T88" fmla="*/ 144 w 258"/>
                <a:gd name="T89" fmla="*/ 131 h 174"/>
                <a:gd name="T90" fmla="*/ 141 w 258"/>
                <a:gd name="T91" fmla="*/ 142 h 174"/>
                <a:gd name="T92" fmla="*/ 163 w 258"/>
                <a:gd name="T93" fmla="*/ 142 h 174"/>
                <a:gd name="T94" fmla="*/ 160 w 258"/>
                <a:gd name="T95" fmla="*/ 131 h 174"/>
                <a:gd name="T96" fmla="*/ 164 w 258"/>
                <a:gd name="T97" fmla="*/ 127 h 174"/>
                <a:gd name="T98" fmla="*/ 191 w 258"/>
                <a:gd name="T99" fmla="*/ 130 h 174"/>
                <a:gd name="T100" fmla="*/ 191 w 258"/>
                <a:gd name="T101" fmla="*/ 140 h 174"/>
                <a:gd name="T102" fmla="*/ 165 w 258"/>
                <a:gd name="T103" fmla="*/ 142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8" h="174">
                  <a:moveTo>
                    <a:pt x="246" y="99"/>
                  </a:moveTo>
                  <a:cubicBezTo>
                    <a:pt x="196" y="52"/>
                    <a:pt x="196" y="52"/>
                    <a:pt x="196" y="52"/>
                  </a:cubicBezTo>
                  <a:cubicBezTo>
                    <a:pt x="193" y="49"/>
                    <a:pt x="189" y="47"/>
                    <a:pt x="185" y="46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6" y="5"/>
                    <a:pt x="169" y="0"/>
                    <a:pt x="163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0" y="0"/>
                    <a:pt x="83" y="5"/>
                    <a:pt x="82" y="12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0" y="47"/>
                    <a:pt x="66" y="49"/>
                    <a:pt x="63" y="52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8" y="103"/>
                    <a:pt x="4" y="112"/>
                    <a:pt x="3" y="119"/>
                  </a:cubicBezTo>
                  <a:cubicBezTo>
                    <a:pt x="1" y="162"/>
                    <a:pt x="1" y="162"/>
                    <a:pt x="1" y="162"/>
                  </a:cubicBezTo>
                  <a:cubicBezTo>
                    <a:pt x="0" y="168"/>
                    <a:pt x="6" y="174"/>
                    <a:pt x="12" y="174"/>
                  </a:cubicBezTo>
                  <a:cubicBezTo>
                    <a:pt x="247" y="174"/>
                    <a:pt x="247" y="174"/>
                    <a:pt x="247" y="174"/>
                  </a:cubicBezTo>
                  <a:cubicBezTo>
                    <a:pt x="253" y="174"/>
                    <a:pt x="258" y="168"/>
                    <a:pt x="258" y="162"/>
                  </a:cubicBezTo>
                  <a:cubicBezTo>
                    <a:pt x="255" y="119"/>
                    <a:pt x="255" y="119"/>
                    <a:pt x="255" y="119"/>
                  </a:cubicBezTo>
                  <a:cubicBezTo>
                    <a:pt x="255" y="112"/>
                    <a:pt x="251" y="103"/>
                    <a:pt x="246" y="99"/>
                  </a:cubicBezTo>
                  <a:close/>
                  <a:moveTo>
                    <a:pt x="159" y="110"/>
                  </a:moveTo>
                  <a:cubicBezTo>
                    <a:pt x="159" y="102"/>
                    <a:pt x="159" y="102"/>
                    <a:pt x="159" y="102"/>
                  </a:cubicBezTo>
                  <a:cubicBezTo>
                    <a:pt x="159" y="102"/>
                    <a:pt x="159" y="101"/>
                    <a:pt x="159" y="101"/>
                  </a:cubicBezTo>
                  <a:cubicBezTo>
                    <a:pt x="160" y="101"/>
                    <a:pt x="160" y="100"/>
                    <a:pt x="160" y="100"/>
                  </a:cubicBezTo>
                  <a:cubicBezTo>
                    <a:pt x="161" y="100"/>
                    <a:pt x="161" y="100"/>
                    <a:pt x="162" y="99"/>
                  </a:cubicBezTo>
                  <a:cubicBezTo>
                    <a:pt x="162" y="99"/>
                    <a:pt x="163" y="99"/>
                    <a:pt x="163" y="99"/>
                  </a:cubicBezTo>
                  <a:cubicBezTo>
                    <a:pt x="185" y="99"/>
                    <a:pt x="185" y="99"/>
                    <a:pt x="185" y="99"/>
                  </a:cubicBezTo>
                  <a:cubicBezTo>
                    <a:pt x="185" y="99"/>
                    <a:pt x="186" y="99"/>
                    <a:pt x="186" y="99"/>
                  </a:cubicBezTo>
                  <a:cubicBezTo>
                    <a:pt x="187" y="100"/>
                    <a:pt x="187" y="100"/>
                    <a:pt x="188" y="100"/>
                  </a:cubicBezTo>
                  <a:cubicBezTo>
                    <a:pt x="188" y="100"/>
                    <a:pt x="188" y="101"/>
                    <a:pt x="189" y="101"/>
                  </a:cubicBezTo>
                  <a:cubicBezTo>
                    <a:pt x="189" y="101"/>
                    <a:pt x="189" y="102"/>
                    <a:pt x="189" y="10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10"/>
                    <a:pt x="190" y="111"/>
                    <a:pt x="189" y="111"/>
                  </a:cubicBezTo>
                  <a:cubicBezTo>
                    <a:pt x="189" y="112"/>
                    <a:pt x="189" y="112"/>
                    <a:pt x="189" y="112"/>
                  </a:cubicBezTo>
                  <a:cubicBezTo>
                    <a:pt x="188" y="113"/>
                    <a:pt x="188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64" y="113"/>
                    <a:pt x="164" y="113"/>
                    <a:pt x="164" y="113"/>
                  </a:cubicBezTo>
                  <a:cubicBezTo>
                    <a:pt x="163" y="113"/>
                    <a:pt x="163" y="113"/>
                    <a:pt x="162" y="113"/>
                  </a:cubicBezTo>
                  <a:cubicBezTo>
                    <a:pt x="162" y="113"/>
                    <a:pt x="161" y="113"/>
                    <a:pt x="161" y="112"/>
                  </a:cubicBezTo>
                  <a:cubicBezTo>
                    <a:pt x="160" y="112"/>
                    <a:pt x="160" y="112"/>
                    <a:pt x="160" y="111"/>
                  </a:cubicBezTo>
                  <a:cubicBezTo>
                    <a:pt x="159" y="111"/>
                    <a:pt x="159" y="110"/>
                    <a:pt x="159" y="110"/>
                  </a:cubicBezTo>
                  <a:close/>
                  <a:moveTo>
                    <a:pt x="144" y="110"/>
                  </a:moveTo>
                  <a:cubicBezTo>
                    <a:pt x="144" y="110"/>
                    <a:pt x="143" y="111"/>
                    <a:pt x="143" y="111"/>
                  </a:cubicBezTo>
                  <a:cubicBezTo>
                    <a:pt x="143" y="112"/>
                    <a:pt x="143" y="112"/>
                    <a:pt x="142" y="112"/>
                  </a:cubicBezTo>
                  <a:cubicBezTo>
                    <a:pt x="142" y="113"/>
                    <a:pt x="141" y="113"/>
                    <a:pt x="141" y="113"/>
                  </a:cubicBezTo>
                  <a:cubicBezTo>
                    <a:pt x="140" y="113"/>
                    <a:pt x="140" y="113"/>
                    <a:pt x="139" y="113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3"/>
                    <a:pt x="116" y="113"/>
                    <a:pt x="116" y="113"/>
                  </a:cubicBezTo>
                  <a:cubicBezTo>
                    <a:pt x="115" y="113"/>
                    <a:pt x="115" y="113"/>
                    <a:pt x="114" y="112"/>
                  </a:cubicBezTo>
                  <a:cubicBezTo>
                    <a:pt x="114" y="112"/>
                    <a:pt x="114" y="112"/>
                    <a:pt x="114" y="111"/>
                  </a:cubicBezTo>
                  <a:cubicBezTo>
                    <a:pt x="113" y="111"/>
                    <a:pt x="113" y="110"/>
                    <a:pt x="113" y="110"/>
                  </a:cubicBezTo>
                  <a:cubicBezTo>
                    <a:pt x="113" y="102"/>
                    <a:pt x="113" y="102"/>
                    <a:pt x="113" y="102"/>
                  </a:cubicBezTo>
                  <a:cubicBezTo>
                    <a:pt x="113" y="102"/>
                    <a:pt x="113" y="101"/>
                    <a:pt x="114" y="101"/>
                  </a:cubicBezTo>
                  <a:cubicBezTo>
                    <a:pt x="114" y="101"/>
                    <a:pt x="114" y="100"/>
                    <a:pt x="115" y="100"/>
                  </a:cubicBezTo>
                  <a:cubicBezTo>
                    <a:pt x="115" y="100"/>
                    <a:pt x="115" y="100"/>
                    <a:pt x="116" y="99"/>
                  </a:cubicBezTo>
                  <a:cubicBezTo>
                    <a:pt x="116" y="99"/>
                    <a:pt x="117" y="99"/>
                    <a:pt x="118" y="99"/>
                  </a:cubicBezTo>
                  <a:cubicBezTo>
                    <a:pt x="139" y="99"/>
                    <a:pt x="139" y="99"/>
                    <a:pt x="139" y="99"/>
                  </a:cubicBezTo>
                  <a:cubicBezTo>
                    <a:pt x="140" y="99"/>
                    <a:pt x="140" y="99"/>
                    <a:pt x="141" y="99"/>
                  </a:cubicBezTo>
                  <a:cubicBezTo>
                    <a:pt x="141" y="100"/>
                    <a:pt x="142" y="100"/>
                    <a:pt x="142" y="100"/>
                  </a:cubicBezTo>
                  <a:cubicBezTo>
                    <a:pt x="143" y="100"/>
                    <a:pt x="143" y="101"/>
                    <a:pt x="143" y="101"/>
                  </a:cubicBezTo>
                  <a:cubicBezTo>
                    <a:pt x="143" y="101"/>
                    <a:pt x="143" y="102"/>
                    <a:pt x="143" y="102"/>
                  </a:cubicBezTo>
                  <a:lnTo>
                    <a:pt x="144" y="110"/>
                  </a:lnTo>
                  <a:close/>
                  <a:moveTo>
                    <a:pt x="97" y="111"/>
                  </a:moveTo>
                  <a:cubicBezTo>
                    <a:pt x="97" y="112"/>
                    <a:pt x="97" y="112"/>
                    <a:pt x="96" y="112"/>
                  </a:cubicBezTo>
                  <a:cubicBezTo>
                    <a:pt x="96" y="113"/>
                    <a:pt x="95" y="113"/>
                    <a:pt x="95" y="113"/>
                  </a:cubicBezTo>
                  <a:cubicBezTo>
                    <a:pt x="94" y="113"/>
                    <a:pt x="94" y="113"/>
                    <a:pt x="93" y="113"/>
                  </a:cubicBezTo>
                  <a:cubicBezTo>
                    <a:pt x="71" y="113"/>
                    <a:pt x="71" y="113"/>
                    <a:pt x="71" y="113"/>
                  </a:cubicBezTo>
                  <a:cubicBezTo>
                    <a:pt x="71" y="113"/>
                    <a:pt x="70" y="113"/>
                    <a:pt x="70" y="113"/>
                  </a:cubicBezTo>
                  <a:cubicBezTo>
                    <a:pt x="69" y="113"/>
                    <a:pt x="69" y="113"/>
                    <a:pt x="68" y="112"/>
                  </a:cubicBezTo>
                  <a:cubicBezTo>
                    <a:pt x="68" y="112"/>
                    <a:pt x="68" y="112"/>
                    <a:pt x="67" y="111"/>
                  </a:cubicBezTo>
                  <a:cubicBezTo>
                    <a:pt x="67" y="111"/>
                    <a:pt x="67" y="110"/>
                    <a:pt x="67" y="110"/>
                  </a:cubicBezTo>
                  <a:cubicBezTo>
                    <a:pt x="68" y="102"/>
                    <a:pt x="68" y="102"/>
                    <a:pt x="68" y="102"/>
                  </a:cubicBezTo>
                  <a:cubicBezTo>
                    <a:pt x="68" y="102"/>
                    <a:pt x="68" y="101"/>
                    <a:pt x="68" y="101"/>
                  </a:cubicBezTo>
                  <a:cubicBezTo>
                    <a:pt x="68" y="101"/>
                    <a:pt x="69" y="100"/>
                    <a:pt x="69" y="100"/>
                  </a:cubicBezTo>
                  <a:cubicBezTo>
                    <a:pt x="69" y="100"/>
                    <a:pt x="70" y="100"/>
                    <a:pt x="70" y="99"/>
                  </a:cubicBezTo>
                  <a:cubicBezTo>
                    <a:pt x="71" y="99"/>
                    <a:pt x="71" y="99"/>
                    <a:pt x="72" y="99"/>
                  </a:cubicBezTo>
                  <a:cubicBezTo>
                    <a:pt x="94" y="99"/>
                    <a:pt x="94" y="99"/>
                    <a:pt x="94" y="99"/>
                  </a:cubicBezTo>
                  <a:cubicBezTo>
                    <a:pt x="94" y="99"/>
                    <a:pt x="95" y="99"/>
                    <a:pt x="95" y="99"/>
                  </a:cubicBezTo>
                  <a:cubicBezTo>
                    <a:pt x="96" y="100"/>
                    <a:pt x="96" y="100"/>
                    <a:pt x="97" y="100"/>
                  </a:cubicBezTo>
                  <a:cubicBezTo>
                    <a:pt x="97" y="100"/>
                    <a:pt x="97" y="101"/>
                    <a:pt x="97" y="101"/>
                  </a:cubicBezTo>
                  <a:cubicBezTo>
                    <a:pt x="98" y="101"/>
                    <a:pt x="98" y="102"/>
                    <a:pt x="98" y="102"/>
                  </a:cubicBezTo>
                  <a:cubicBezTo>
                    <a:pt x="97" y="110"/>
                    <a:pt x="97" y="110"/>
                    <a:pt x="97" y="110"/>
                  </a:cubicBezTo>
                  <a:cubicBezTo>
                    <a:pt x="97" y="110"/>
                    <a:pt x="97" y="111"/>
                    <a:pt x="97" y="111"/>
                  </a:cubicBezTo>
                  <a:close/>
                  <a:moveTo>
                    <a:pt x="69" y="75"/>
                  </a:moveTo>
                  <a:cubicBezTo>
                    <a:pt x="69" y="75"/>
                    <a:pt x="70" y="75"/>
                    <a:pt x="70" y="74"/>
                  </a:cubicBezTo>
                  <a:cubicBezTo>
                    <a:pt x="70" y="74"/>
                    <a:pt x="70" y="74"/>
                    <a:pt x="71" y="73"/>
                  </a:cubicBezTo>
                  <a:cubicBezTo>
                    <a:pt x="71" y="73"/>
                    <a:pt x="72" y="73"/>
                    <a:pt x="72" y="73"/>
                  </a:cubicBezTo>
                  <a:cubicBezTo>
                    <a:pt x="73" y="73"/>
                    <a:pt x="73" y="73"/>
                    <a:pt x="74" y="73"/>
                  </a:cubicBezTo>
                  <a:cubicBezTo>
                    <a:pt x="95" y="73"/>
                    <a:pt x="95" y="73"/>
                    <a:pt x="95" y="73"/>
                  </a:cubicBezTo>
                  <a:cubicBezTo>
                    <a:pt x="95" y="73"/>
                    <a:pt x="96" y="73"/>
                    <a:pt x="96" y="73"/>
                  </a:cubicBezTo>
                  <a:cubicBezTo>
                    <a:pt x="97" y="73"/>
                    <a:pt x="97" y="73"/>
                    <a:pt x="97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98" y="83"/>
                    <a:pt x="98" y="84"/>
                    <a:pt x="98" y="84"/>
                  </a:cubicBezTo>
                  <a:cubicBezTo>
                    <a:pt x="98" y="84"/>
                    <a:pt x="97" y="85"/>
                    <a:pt x="97" y="85"/>
                  </a:cubicBezTo>
                  <a:cubicBezTo>
                    <a:pt x="97" y="85"/>
                    <a:pt x="96" y="85"/>
                    <a:pt x="96" y="85"/>
                  </a:cubicBezTo>
                  <a:cubicBezTo>
                    <a:pt x="95" y="86"/>
                    <a:pt x="95" y="86"/>
                    <a:pt x="94" y="86"/>
                  </a:cubicBezTo>
                  <a:cubicBezTo>
                    <a:pt x="73" y="86"/>
                    <a:pt x="73" y="86"/>
                    <a:pt x="73" y="86"/>
                  </a:cubicBezTo>
                  <a:cubicBezTo>
                    <a:pt x="72" y="86"/>
                    <a:pt x="72" y="86"/>
                    <a:pt x="71" y="85"/>
                  </a:cubicBezTo>
                  <a:cubicBezTo>
                    <a:pt x="71" y="85"/>
                    <a:pt x="70" y="85"/>
                    <a:pt x="70" y="85"/>
                  </a:cubicBezTo>
                  <a:cubicBezTo>
                    <a:pt x="70" y="85"/>
                    <a:pt x="69" y="84"/>
                    <a:pt x="69" y="84"/>
                  </a:cubicBezTo>
                  <a:cubicBezTo>
                    <a:pt x="69" y="84"/>
                    <a:pt x="69" y="83"/>
                    <a:pt x="69" y="83"/>
                  </a:cubicBezTo>
                  <a:lnTo>
                    <a:pt x="69" y="75"/>
                  </a:lnTo>
                  <a:close/>
                  <a:moveTo>
                    <a:pt x="140" y="73"/>
                  </a:moveTo>
                  <a:cubicBezTo>
                    <a:pt x="141" y="73"/>
                    <a:pt x="141" y="73"/>
                    <a:pt x="142" y="73"/>
                  </a:cubicBezTo>
                  <a:cubicBezTo>
                    <a:pt x="142" y="74"/>
                    <a:pt x="142" y="74"/>
                    <a:pt x="143" y="74"/>
                  </a:cubicBezTo>
                  <a:cubicBezTo>
                    <a:pt x="143" y="75"/>
                    <a:pt x="143" y="75"/>
                    <a:pt x="143" y="75"/>
                  </a:cubicBezTo>
                  <a:cubicBezTo>
                    <a:pt x="143" y="83"/>
                    <a:pt x="143" y="83"/>
                    <a:pt x="143" y="83"/>
                  </a:cubicBezTo>
                  <a:cubicBezTo>
                    <a:pt x="143" y="83"/>
                    <a:pt x="143" y="84"/>
                    <a:pt x="143" y="84"/>
                  </a:cubicBezTo>
                  <a:cubicBezTo>
                    <a:pt x="143" y="84"/>
                    <a:pt x="142" y="85"/>
                    <a:pt x="142" y="85"/>
                  </a:cubicBezTo>
                  <a:cubicBezTo>
                    <a:pt x="142" y="85"/>
                    <a:pt x="141" y="85"/>
                    <a:pt x="141" y="85"/>
                  </a:cubicBezTo>
                  <a:cubicBezTo>
                    <a:pt x="140" y="86"/>
                    <a:pt x="140" y="86"/>
                    <a:pt x="139" y="86"/>
                  </a:cubicBezTo>
                  <a:cubicBezTo>
                    <a:pt x="118" y="86"/>
                    <a:pt x="118" y="86"/>
                    <a:pt x="118" y="86"/>
                  </a:cubicBezTo>
                  <a:cubicBezTo>
                    <a:pt x="117" y="86"/>
                    <a:pt x="117" y="86"/>
                    <a:pt x="116" y="85"/>
                  </a:cubicBezTo>
                  <a:cubicBezTo>
                    <a:pt x="116" y="85"/>
                    <a:pt x="115" y="85"/>
                    <a:pt x="115" y="85"/>
                  </a:cubicBezTo>
                  <a:cubicBezTo>
                    <a:pt x="114" y="85"/>
                    <a:pt x="114" y="84"/>
                    <a:pt x="114" y="84"/>
                  </a:cubicBezTo>
                  <a:cubicBezTo>
                    <a:pt x="114" y="84"/>
                    <a:pt x="114" y="83"/>
                    <a:pt x="114" y="83"/>
                  </a:cubicBezTo>
                  <a:cubicBezTo>
                    <a:pt x="114" y="75"/>
                    <a:pt x="114" y="75"/>
                    <a:pt x="114" y="75"/>
                  </a:cubicBezTo>
                  <a:cubicBezTo>
                    <a:pt x="114" y="75"/>
                    <a:pt x="114" y="75"/>
                    <a:pt x="114" y="74"/>
                  </a:cubicBezTo>
                  <a:cubicBezTo>
                    <a:pt x="114" y="74"/>
                    <a:pt x="115" y="74"/>
                    <a:pt x="115" y="73"/>
                  </a:cubicBezTo>
                  <a:cubicBezTo>
                    <a:pt x="115" y="73"/>
                    <a:pt x="116" y="73"/>
                    <a:pt x="116" y="73"/>
                  </a:cubicBezTo>
                  <a:cubicBezTo>
                    <a:pt x="117" y="73"/>
                    <a:pt x="117" y="73"/>
                    <a:pt x="118" y="73"/>
                  </a:cubicBezTo>
                  <a:cubicBezTo>
                    <a:pt x="139" y="73"/>
                    <a:pt x="139" y="73"/>
                    <a:pt x="139" y="73"/>
                  </a:cubicBezTo>
                  <a:cubicBezTo>
                    <a:pt x="139" y="73"/>
                    <a:pt x="140" y="73"/>
                    <a:pt x="140" y="73"/>
                  </a:cubicBezTo>
                  <a:close/>
                  <a:moveTo>
                    <a:pt x="188" y="84"/>
                  </a:moveTo>
                  <a:cubicBezTo>
                    <a:pt x="187" y="84"/>
                    <a:pt x="187" y="85"/>
                    <a:pt x="187" y="85"/>
                  </a:cubicBezTo>
                  <a:cubicBezTo>
                    <a:pt x="186" y="85"/>
                    <a:pt x="186" y="85"/>
                    <a:pt x="186" y="85"/>
                  </a:cubicBezTo>
                  <a:cubicBezTo>
                    <a:pt x="185" y="86"/>
                    <a:pt x="184" y="86"/>
                    <a:pt x="184" y="86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62" y="86"/>
                    <a:pt x="162" y="86"/>
                    <a:pt x="161" y="85"/>
                  </a:cubicBezTo>
                  <a:cubicBezTo>
                    <a:pt x="161" y="85"/>
                    <a:pt x="160" y="85"/>
                    <a:pt x="160" y="85"/>
                  </a:cubicBezTo>
                  <a:cubicBezTo>
                    <a:pt x="159" y="85"/>
                    <a:pt x="159" y="84"/>
                    <a:pt x="159" y="84"/>
                  </a:cubicBezTo>
                  <a:cubicBezTo>
                    <a:pt x="159" y="84"/>
                    <a:pt x="158" y="83"/>
                    <a:pt x="158" y="83"/>
                  </a:cubicBezTo>
                  <a:cubicBezTo>
                    <a:pt x="158" y="75"/>
                    <a:pt x="158" y="75"/>
                    <a:pt x="158" y="75"/>
                  </a:cubicBezTo>
                  <a:cubicBezTo>
                    <a:pt x="158" y="75"/>
                    <a:pt x="158" y="75"/>
                    <a:pt x="158" y="74"/>
                  </a:cubicBezTo>
                  <a:cubicBezTo>
                    <a:pt x="159" y="74"/>
                    <a:pt x="159" y="74"/>
                    <a:pt x="159" y="73"/>
                  </a:cubicBezTo>
                  <a:cubicBezTo>
                    <a:pt x="160" y="73"/>
                    <a:pt x="160" y="73"/>
                    <a:pt x="161" y="73"/>
                  </a:cubicBezTo>
                  <a:cubicBezTo>
                    <a:pt x="161" y="73"/>
                    <a:pt x="162" y="73"/>
                    <a:pt x="162" y="73"/>
                  </a:cubicBezTo>
                  <a:cubicBezTo>
                    <a:pt x="183" y="73"/>
                    <a:pt x="183" y="73"/>
                    <a:pt x="183" y="73"/>
                  </a:cubicBezTo>
                  <a:cubicBezTo>
                    <a:pt x="184" y="73"/>
                    <a:pt x="184" y="73"/>
                    <a:pt x="185" y="73"/>
                  </a:cubicBezTo>
                  <a:cubicBezTo>
                    <a:pt x="185" y="73"/>
                    <a:pt x="186" y="73"/>
                    <a:pt x="186" y="73"/>
                  </a:cubicBezTo>
                  <a:cubicBezTo>
                    <a:pt x="186" y="74"/>
                    <a:pt x="187" y="74"/>
                    <a:pt x="187" y="74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83"/>
                    <a:pt x="188" y="83"/>
                    <a:pt x="188" y="83"/>
                  </a:cubicBezTo>
                  <a:cubicBezTo>
                    <a:pt x="188" y="83"/>
                    <a:pt x="188" y="84"/>
                    <a:pt x="188" y="84"/>
                  </a:cubicBezTo>
                  <a:close/>
                  <a:moveTo>
                    <a:pt x="69" y="142"/>
                  </a:moveTo>
                  <a:cubicBezTo>
                    <a:pt x="69" y="142"/>
                    <a:pt x="68" y="142"/>
                    <a:pt x="68" y="142"/>
                  </a:cubicBezTo>
                  <a:cubicBezTo>
                    <a:pt x="67" y="142"/>
                    <a:pt x="67" y="142"/>
                    <a:pt x="66" y="141"/>
                  </a:cubicBezTo>
                  <a:cubicBezTo>
                    <a:pt x="66" y="141"/>
                    <a:pt x="66" y="141"/>
                    <a:pt x="65" y="140"/>
                  </a:cubicBezTo>
                  <a:cubicBezTo>
                    <a:pt x="65" y="140"/>
                    <a:pt x="65" y="139"/>
                    <a:pt x="65" y="139"/>
                  </a:cubicBezTo>
                  <a:cubicBezTo>
                    <a:pt x="66" y="132"/>
                    <a:pt x="66" y="132"/>
                    <a:pt x="66" y="132"/>
                  </a:cubicBezTo>
                  <a:cubicBezTo>
                    <a:pt x="66" y="131"/>
                    <a:pt x="66" y="131"/>
                    <a:pt x="66" y="131"/>
                  </a:cubicBezTo>
                  <a:cubicBezTo>
                    <a:pt x="66" y="130"/>
                    <a:pt x="66" y="130"/>
                    <a:pt x="66" y="130"/>
                  </a:cubicBezTo>
                  <a:cubicBezTo>
                    <a:pt x="66" y="129"/>
                    <a:pt x="67" y="129"/>
                    <a:pt x="67" y="128"/>
                  </a:cubicBezTo>
                  <a:cubicBezTo>
                    <a:pt x="68" y="128"/>
                    <a:pt x="68" y="128"/>
                    <a:pt x="69" y="128"/>
                  </a:cubicBezTo>
                  <a:cubicBezTo>
                    <a:pt x="69" y="128"/>
                    <a:pt x="70" y="127"/>
                    <a:pt x="70" y="127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3" y="127"/>
                    <a:pt x="94" y="128"/>
                    <a:pt x="94" y="128"/>
                  </a:cubicBezTo>
                  <a:cubicBezTo>
                    <a:pt x="95" y="128"/>
                    <a:pt x="95" y="128"/>
                    <a:pt x="96" y="128"/>
                  </a:cubicBezTo>
                  <a:cubicBezTo>
                    <a:pt x="96" y="129"/>
                    <a:pt x="96" y="129"/>
                    <a:pt x="96" y="130"/>
                  </a:cubicBezTo>
                  <a:cubicBezTo>
                    <a:pt x="97" y="130"/>
                    <a:pt x="97" y="130"/>
                    <a:pt x="97" y="131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96" y="139"/>
                    <a:pt x="96" y="140"/>
                    <a:pt x="96" y="140"/>
                  </a:cubicBezTo>
                  <a:cubicBezTo>
                    <a:pt x="96" y="141"/>
                    <a:pt x="96" y="141"/>
                    <a:pt x="95" y="141"/>
                  </a:cubicBezTo>
                  <a:cubicBezTo>
                    <a:pt x="95" y="142"/>
                    <a:pt x="94" y="142"/>
                    <a:pt x="94" y="142"/>
                  </a:cubicBezTo>
                  <a:cubicBezTo>
                    <a:pt x="93" y="142"/>
                    <a:pt x="93" y="142"/>
                    <a:pt x="92" y="142"/>
                  </a:cubicBezTo>
                  <a:lnTo>
                    <a:pt x="69" y="142"/>
                  </a:lnTo>
                  <a:close/>
                  <a:moveTo>
                    <a:pt x="117" y="142"/>
                  </a:moveTo>
                  <a:cubicBezTo>
                    <a:pt x="116" y="142"/>
                    <a:pt x="116" y="142"/>
                    <a:pt x="115" y="142"/>
                  </a:cubicBezTo>
                  <a:cubicBezTo>
                    <a:pt x="115" y="142"/>
                    <a:pt x="114" y="142"/>
                    <a:pt x="114" y="141"/>
                  </a:cubicBezTo>
                  <a:cubicBezTo>
                    <a:pt x="114" y="141"/>
                    <a:pt x="113" y="141"/>
                    <a:pt x="113" y="140"/>
                  </a:cubicBezTo>
                  <a:cubicBezTo>
                    <a:pt x="113" y="140"/>
                    <a:pt x="113" y="139"/>
                    <a:pt x="113" y="139"/>
                  </a:cubicBezTo>
                  <a:cubicBezTo>
                    <a:pt x="113" y="131"/>
                    <a:pt x="113" y="131"/>
                    <a:pt x="113" y="131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3" y="129"/>
                    <a:pt x="114" y="129"/>
                    <a:pt x="114" y="128"/>
                  </a:cubicBezTo>
                  <a:cubicBezTo>
                    <a:pt x="115" y="128"/>
                    <a:pt x="115" y="128"/>
                    <a:pt x="116" y="128"/>
                  </a:cubicBezTo>
                  <a:cubicBezTo>
                    <a:pt x="116" y="128"/>
                    <a:pt x="117" y="127"/>
                    <a:pt x="117" y="127"/>
                  </a:cubicBezTo>
                  <a:cubicBezTo>
                    <a:pt x="140" y="127"/>
                    <a:pt x="140" y="127"/>
                    <a:pt x="140" y="127"/>
                  </a:cubicBezTo>
                  <a:cubicBezTo>
                    <a:pt x="140" y="127"/>
                    <a:pt x="141" y="128"/>
                    <a:pt x="141" y="128"/>
                  </a:cubicBezTo>
                  <a:cubicBezTo>
                    <a:pt x="142" y="128"/>
                    <a:pt x="142" y="128"/>
                    <a:pt x="143" y="128"/>
                  </a:cubicBezTo>
                  <a:cubicBezTo>
                    <a:pt x="143" y="129"/>
                    <a:pt x="143" y="129"/>
                    <a:pt x="144" y="130"/>
                  </a:cubicBezTo>
                  <a:cubicBezTo>
                    <a:pt x="144" y="130"/>
                    <a:pt x="144" y="130"/>
                    <a:pt x="144" y="131"/>
                  </a:cubicBezTo>
                  <a:cubicBezTo>
                    <a:pt x="144" y="139"/>
                    <a:pt x="144" y="139"/>
                    <a:pt x="144" y="139"/>
                  </a:cubicBezTo>
                  <a:cubicBezTo>
                    <a:pt x="144" y="139"/>
                    <a:pt x="144" y="140"/>
                    <a:pt x="144" y="140"/>
                  </a:cubicBezTo>
                  <a:cubicBezTo>
                    <a:pt x="143" y="141"/>
                    <a:pt x="143" y="141"/>
                    <a:pt x="143" y="141"/>
                  </a:cubicBezTo>
                  <a:cubicBezTo>
                    <a:pt x="142" y="142"/>
                    <a:pt x="142" y="142"/>
                    <a:pt x="141" y="142"/>
                  </a:cubicBezTo>
                  <a:cubicBezTo>
                    <a:pt x="141" y="142"/>
                    <a:pt x="140" y="142"/>
                    <a:pt x="140" y="142"/>
                  </a:cubicBezTo>
                  <a:lnTo>
                    <a:pt x="117" y="142"/>
                  </a:lnTo>
                  <a:close/>
                  <a:moveTo>
                    <a:pt x="165" y="142"/>
                  </a:moveTo>
                  <a:cubicBezTo>
                    <a:pt x="164" y="142"/>
                    <a:pt x="164" y="142"/>
                    <a:pt x="163" y="142"/>
                  </a:cubicBezTo>
                  <a:cubicBezTo>
                    <a:pt x="163" y="142"/>
                    <a:pt x="162" y="142"/>
                    <a:pt x="162" y="141"/>
                  </a:cubicBezTo>
                  <a:cubicBezTo>
                    <a:pt x="161" y="141"/>
                    <a:pt x="161" y="141"/>
                    <a:pt x="161" y="140"/>
                  </a:cubicBezTo>
                  <a:cubicBezTo>
                    <a:pt x="160" y="140"/>
                    <a:pt x="160" y="139"/>
                    <a:pt x="160" y="139"/>
                  </a:cubicBezTo>
                  <a:cubicBezTo>
                    <a:pt x="160" y="131"/>
                    <a:pt x="160" y="131"/>
                    <a:pt x="160" y="131"/>
                  </a:cubicBezTo>
                  <a:cubicBezTo>
                    <a:pt x="160" y="130"/>
                    <a:pt x="160" y="130"/>
                    <a:pt x="160" y="130"/>
                  </a:cubicBezTo>
                  <a:cubicBezTo>
                    <a:pt x="161" y="129"/>
                    <a:pt x="161" y="129"/>
                    <a:pt x="161" y="128"/>
                  </a:cubicBezTo>
                  <a:cubicBezTo>
                    <a:pt x="162" y="128"/>
                    <a:pt x="162" y="128"/>
                    <a:pt x="163" y="128"/>
                  </a:cubicBezTo>
                  <a:cubicBezTo>
                    <a:pt x="163" y="128"/>
                    <a:pt x="164" y="127"/>
                    <a:pt x="164" y="127"/>
                  </a:cubicBezTo>
                  <a:cubicBezTo>
                    <a:pt x="186" y="127"/>
                    <a:pt x="186" y="127"/>
                    <a:pt x="186" y="127"/>
                  </a:cubicBezTo>
                  <a:cubicBezTo>
                    <a:pt x="187" y="127"/>
                    <a:pt x="188" y="128"/>
                    <a:pt x="188" y="128"/>
                  </a:cubicBezTo>
                  <a:cubicBezTo>
                    <a:pt x="189" y="128"/>
                    <a:pt x="189" y="128"/>
                    <a:pt x="190" y="128"/>
                  </a:cubicBezTo>
                  <a:cubicBezTo>
                    <a:pt x="190" y="129"/>
                    <a:pt x="190" y="129"/>
                    <a:pt x="191" y="130"/>
                  </a:cubicBezTo>
                  <a:cubicBezTo>
                    <a:pt x="191" y="130"/>
                    <a:pt x="191" y="130"/>
                    <a:pt x="191" y="131"/>
                  </a:cubicBezTo>
                  <a:cubicBezTo>
                    <a:pt x="191" y="132"/>
                    <a:pt x="191" y="132"/>
                    <a:pt x="191" y="132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92" y="139"/>
                    <a:pt x="191" y="140"/>
                    <a:pt x="191" y="140"/>
                  </a:cubicBezTo>
                  <a:cubicBezTo>
                    <a:pt x="191" y="141"/>
                    <a:pt x="191" y="141"/>
                    <a:pt x="190" y="141"/>
                  </a:cubicBezTo>
                  <a:cubicBezTo>
                    <a:pt x="190" y="142"/>
                    <a:pt x="190" y="142"/>
                    <a:pt x="189" y="142"/>
                  </a:cubicBezTo>
                  <a:cubicBezTo>
                    <a:pt x="189" y="142"/>
                    <a:pt x="188" y="142"/>
                    <a:pt x="187" y="142"/>
                  </a:cubicBezTo>
                  <a:lnTo>
                    <a:pt x="165" y="1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68" name="文本框 52"/>
          <p:cNvSpPr txBox="1">
            <a:spLocks noChangeArrowheads="1"/>
          </p:cNvSpPr>
          <p:nvPr/>
        </p:nvSpPr>
        <p:spPr bwMode="auto">
          <a:xfrm>
            <a:off x="7732713" y="2509838"/>
            <a:ext cx="120967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Seq4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69" name="矩形 53"/>
          <p:cNvSpPr>
            <a:spLocks noChangeArrowheads="1"/>
          </p:cNvSpPr>
          <p:nvPr/>
        </p:nvSpPr>
        <p:spPr bwMode="auto">
          <a:xfrm>
            <a:off x="7853363" y="2970213"/>
            <a:ext cx="4168775" cy="2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Store Procedure for SCD Type2 Dim_Event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70" name="文本框 54"/>
          <p:cNvSpPr txBox="1">
            <a:spLocks noChangeArrowheads="1"/>
          </p:cNvSpPr>
          <p:nvPr/>
        </p:nvSpPr>
        <p:spPr bwMode="auto">
          <a:xfrm>
            <a:off x="7732713" y="3984625"/>
            <a:ext cx="120967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Seq3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71" name="矩形 55"/>
          <p:cNvSpPr>
            <a:spLocks noChangeArrowheads="1"/>
          </p:cNvSpPr>
          <p:nvPr/>
        </p:nvSpPr>
        <p:spPr bwMode="auto">
          <a:xfrm>
            <a:off x="7853363" y="4446588"/>
            <a:ext cx="4168775" cy="51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select Daily Situations for every Monday in November of company SZ300796;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72" name="文本框 56"/>
          <p:cNvSpPr txBox="1">
            <a:spLocks noChangeArrowheads="1"/>
          </p:cNvSpPr>
          <p:nvPr/>
        </p:nvSpPr>
        <p:spPr bwMode="auto">
          <a:xfrm>
            <a:off x="3240088" y="2479675"/>
            <a:ext cx="120967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Seq1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73" name="矩形 57"/>
          <p:cNvSpPr>
            <a:spLocks noChangeArrowheads="1"/>
          </p:cNvSpPr>
          <p:nvPr/>
        </p:nvSpPr>
        <p:spPr bwMode="auto">
          <a:xfrm>
            <a:off x="285750" y="2911475"/>
            <a:ext cx="4167188" cy="2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select all stocks that rise over 9.9% on 2023-11-28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74" name="文本框 58"/>
          <p:cNvSpPr txBox="1">
            <a:spLocks noChangeArrowheads="1"/>
          </p:cNvSpPr>
          <p:nvPr/>
        </p:nvSpPr>
        <p:spPr bwMode="auto">
          <a:xfrm>
            <a:off x="3236913" y="3983038"/>
            <a:ext cx="120967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Seq2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75" name="矩形 59"/>
          <p:cNvSpPr>
            <a:spLocks noChangeArrowheads="1"/>
          </p:cNvSpPr>
          <p:nvPr/>
        </p:nvSpPr>
        <p:spPr bwMode="auto">
          <a:xfrm>
            <a:off x="280988" y="4414838"/>
            <a:ext cx="416877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select Minute Level Data from 2023-11-30 9:30 to 2023-11-30 9:40 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  <a:p>
            <a:pPr marL="0" marR="0" lvl="0" indent="0" algn="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where the company is in CN market and its Total_Value is in top 10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337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4338" name="组合 1"/>
          <p:cNvGrpSpPr/>
          <p:nvPr/>
        </p:nvGrpSpPr>
        <p:grpSpPr>
          <a:xfrm>
            <a:off x="211138" y="257175"/>
            <a:ext cx="558800" cy="4635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0"/>
          <p:cNvSpPr txBox="1">
            <a:spLocks noChangeArrowheads="1"/>
          </p:cNvSpPr>
          <p:nvPr/>
        </p:nvSpPr>
        <p:spPr bwMode="auto">
          <a:xfrm>
            <a:off x="1187450" y="851853"/>
            <a:ext cx="1639888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--version1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22" name="矩形 11"/>
          <p:cNvSpPr>
            <a:spLocks noChangeArrowheads="1"/>
          </p:cNvSpPr>
          <p:nvPr/>
        </p:nvSpPr>
        <p:spPr bwMode="auto">
          <a:xfrm>
            <a:off x="587058" y="1255078"/>
            <a:ext cx="2520950" cy="1410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SELECT dd.Month, dd.WeekDay, fsd.Stock_ID, fsd.Date_ID, fsd.Open,fsd.High,fsd.Low, fsd.Volume, fsd.Turnover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FROM "Trading".Fact_Stock_Daily fsd 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JOIN "Trading".Dim_Date dd ON fsd.Date_ID = dd.Date_ID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WHERE dd.Month = 11 and dd.WeekDay=1 and fsd.Stock_ID = 300796;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27" name="文本框 12"/>
          <p:cNvSpPr txBox="1">
            <a:spLocks noChangeArrowheads="1"/>
          </p:cNvSpPr>
          <p:nvPr/>
        </p:nvSpPr>
        <p:spPr bwMode="auto">
          <a:xfrm>
            <a:off x="1001713" y="3142298"/>
            <a:ext cx="163830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--version2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28" name="矩形 13"/>
          <p:cNvSpPr>
            <a:spLocks noChangeArrowheads="1"/>
          </p:cNvSpPr>
          <p:nvPr/>
        </p:nvSpPr>
        <p:spPr bwMode="auto">
          <a:xfrm>
            <a:off x="351155" y="3559493"/>
            <a:ext cx="2520950" cy="1815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SELECT dd.Month, dd.WeekDay, fsd.Stock_ID, fsd.Date_ID, fsd.Open,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fsd.High,fsd.Low, fsd.Volume, fsd.Turnover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FROM "Trading".Fact_Stock_Daily fsd 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JOIN (SELECT Date_ID, Month, WeekDay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FROM "Trading".Dim_Date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WHERE Month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= 11 AND WeekDay = 1) dd ON fsd.Date_ID = dd.Date_ID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WHERE fsd.Stock_ID = 300796;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30" name="文本框 14"/>
          <p:cNvSpPr txBox="1">
            <a:spLocks noChangeArrowheads="1"/>
          </p:cNvSpPr>
          <p:nvPr/>
        </p:nvSpPr>
        <p:spPr bwMode="auto">
          <a:xfrm>
            <a:off x="1002030" y="5432743"/>
            <a:ext cx="163830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--version3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sp>
        <p:nvSpPr>
          <p:cNvPr id="31" name="矩形 15"/>
          <p:cNvSpPr>
            <a:spLocks noChangeArrowheads="1"/>
          </p:cNvSpPr>
          <p:nvPr/>
        </p:nvSpPr>
        <p:spPr bwMode="auto">
          <a:xfrm>
            <a:off x="587058" y="5831523"/>
            <a:ext cx="2520950" cy="2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Add Index on FK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pic>
        <p:nvPicPr>
          <p:cNvPr id="2" name="图片 2" descr="截屏2023-12-01 下午3.04.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5" y="405765"/>
            <a:ext cx="8060690" cy="2125980"/>
          </a:xfrm>
          <a:prstGeom prst="rect">
            <a:avLst/>
          </a:prstGeom>
        </p:spPr>
      </p:pic>
      <p:pic>
        <p:nvPicPr>
          <p:cNvPr id="9" name="图片 9" descr="截屏2023-12-01 下午3.28.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990" y="2531745"/>
            <a:ext cx="8061325" cy="2095500"/>
          </a:xfrm>
          <a:prstGeom prst="rect">
            <a:avLst/>
          </a:prstGeom>
        </p:spPr>
      </p:pic>
      <p:pic>
        <p:nvPicPr>
          <p:cNvPr id="7" name="图片 7" descr="截屏2023-12-01 下午3.26.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25" y="4653280"/>
            <a:ext cx="8119745" cy="2263140"/>
          </a:xfrm>
          <a:prstGeom prst="rect">
            <a:avLst/>
          </a:prstGeom>
        </p:spPr>
      </p:pic>
      <p:sp>
        <p:nvSpPr>
          <p:cNvPr id="14346" name="文本框 28"/>
          <p:cNvSpPr txBox="1"/>
          <p:nvPr/>
        </p:nvSpPr>
        <p:spPr>
          <a:xfrm>
            <a:off x="290830" y="257175"/>
            <a:ext cx="545719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404040"/>
                </a:solidFill>
                <a:ea typeface="Calibri" panose="020F0502020204030204" pitchFamily="34" charset="0"/>
              </a:rPr>
              <a:t>Performance Tuning for Seq3 </a:t>
            </a:r>
            <a:endParaRPr lang="zh-CN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7649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7650" name="组合 4"/>
          <p:cNvGrpSpPr/>
          <p:nvPr/>
        </p:nvGrpSpPr>
        <p:grpSpPr>
          <a:xfrm>
            <a:off x="3644900" y="1911350"/>
            <a:ext cx="4902200" cy="2486025"/>
            <a:chOff x="3457574" y="1980069"/>
            <a:chExt cx="5143501" cy="2116786"/>
          </a:xfrm>
        </p:grpSpPr>
        <p:grpSp>
          <p:nvGrpSpPr>
            <p:cNvPr id="27651" name="组合 5"/>
            <p:cNvGrpSpPr/>
            <p:nvPr/>
          </p:nvGrpSpPr>
          <p:grpSpPr>
            <a:xfrm>
              <a:off x="3590925" y="1980069"/>
              <a:ext cx="5010150" cy="679906"/>
              <a:chOff x="4324350" y="2295525"/>
              <a:chExt cx="3733800" cy="679906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656" name="组合 6"/>
            <p:cNvGrpSpPr/>
            <p:nvPr/>
          </p:nvGrpSpPr>
          <p:grpSpPr>
            <a:xfrm flipH="1" flipV="1">
              <a:off x="3457574" y="3370824"/>
              <a:ext cx="4951785" cy="726031"/>
              <a:chOff x="4324350" y="2295525"/>
              <a:chExt cx="3733800" cy="679906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7661" name="文本框 35"/>
          <p:cNvSpPr txBox="1"/>
          <p:nvPr/>
        </p:nvSpPr>
        <p:spPr>
          <a:xfrm>
            <a:off x="4961255" y="1911350"/>
            <a:ext cx="2711450" cy="2214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defTabSz="914400"/>
            <a:r>
              <a:rPr lang="en-US" altLang="zh-CN" sz="13800" i="1" dirty="0">
                <a:solidFill>
                  <a:srgbClr val="404040"/>
                </a:solidFill>
                <a:latin typeface="Impact" panose="020B0806030902050204" pitchFamily="34" charset="0"/>
                <a:ea typeface="宋体" pitchFamily="2" charset="-122"/>
              </a:rPr>
              <a:t>04</a:t>
            </a:r>
            <a:endParaRPr lang="zh-CN" altLang="en-US" sz="13800" i="1" dirty="0">
              <a:solidFill>
                <a:srgbClr val="404040"/>
              </a:solidFill>
              <a:latin typeface="Impact" panose="020B0806030902050204" pitchFamily="34" charset="0"/>
              <a:ea typeface="宋体" pitchFamily="2" charset="-122"/>
            </a:endParaRPr>
          </a:p>
        </p:txBody>
      </p:sp>
      <p:sp>
        <p:nvSpPr>
          <p:cNvPr id="27662" name="文本框 36"/>
          <p:cNvSpPr txBox="1"/>
          <p:nvPr/>
        </p:nvSpPr>
        <p:spPr>
          <a:xfrm>
            <a:off x="3927475" y="3937000"/>
            <a:ext cx="444881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defTabSz="1216025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Summary and Expectations</a:t>
            </a:r>
            <a:endParaRPr lang="zh-CN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27663" name="矩形 33"/>
          <p:cNvSpPr/>
          <p:nvPr/>
        </p:nvSpPr>
        <p:spPr>
          <a:xfrm>
            <a:off x="3825875" y="4668520"/>
            <a:ext cx="4721225" cy="64579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p>
            <a:pPr defTabSz="1216025">
              <a:spcBef>
                <a:spcPct val="20000"/>
              </a:spcBef>
            </a:pPr>
            <a:r>
              <a:rPr lang="en-US" altLang="zh-CN" sz="1400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Summarize some of the points learned throughout the project and the subsequent steps needed to improve the trading system.</a:t>
            </a:r>
            <a:endParaRPr lang="en-US" altLang="zh-CN" sz="14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385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-5715" y="1143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6386" name="组合 1"/>
          <p:cNvGrpSpPr/>
          <p:nvPr/>
        </p:nvGrpSpPr>
        <p:grpSpPr>
          <a:xfrm>
            <a:off x="211138" y="257175"/>
            <a:ext cx="558800" cy="4635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94" name="文本框 28"/>
          <p:cNvSpPr txBox="1"/>
          <p:nvPr/>
        </p:nvSpPr>
        <p:spPr>
          <a:xfrm>
            <a:off x="290830" y="254000"/>
            <a:ext cx="578421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defTabSz="1216025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445469"/>
                </a:solidFill>
                <a:latin typeface="Arial" panose="020B0604020202020204" pitchFamily="34" charset="0"/>
                <a:ea typeface="Calibri" panose="020F0502020204030204" pitchFamily="34" charset="0"/>
                <a:sym typeface="Arial" panose="020B0604020202020204" pitchFamily="34" charset="0"/>
              </a:rPr>
              <a:t>Summary and Expectations</a:t>
            </a:r>
            <a:endParaRPr lang="zh-CN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pic>
        <p:nvPicPr>
          <p:cNvPr id="16395" name="图片 4"/>
          <p:cNvPicPr>
            <a:picLocks noChangeAspect="1"/>
          </p:cNvPicPr>
          <p:nvPr/>
        </p:nvPicPr>
        <p:blipFill>
          <a:blip r:embed="rId2"/>
          <a:srcRect b="57500"/>
          <a:stretch>
            <a:fillRect/>
          </a:stretch>
        </p:blipFill>
        <p:spPr>
          <a:xfrm>
            <a:off x="0" y="1712913"/>
            <a:ext cx="12192000" cy="3454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矩形 12"/>
          <p:cNvSpPr/>
          <p:nvPr/>
        </p:nvSpPr>
        <p:spPr>
          <a:xfrm>
            <a:off x="3957320" y="1701483"/>
            <a:ext cx="4267200" cy="3454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680270" y="1827658"/>
            <a:ext cx="841613" cy="841610"/>
            <a:chOff x="530226" y="4791075"/>
            <a:chExt cx="274638" cy="274637"/>
          </a:xfrm>
          <a:solidFill>
            <a:schemeClr val="bg1"/>
          </a:solidFill>
        </p:grpSpPr>
        <p:sp>
          <p:nvSpPr>
            <p:cNvPr id="15" name="Freeform 189"/>
            <p:cNvSpPr/>
            <p:nvPr/>
          </p:nvSpPr>
          <p:spPr bwMode="auto">
            <a:xfrm>
              <a:off x="639763" y="4791075"/>
              <a:ext cx="53975" cy="49212"/>
            </a:xfrm>
            <a:custGeom>
              <a:avLst/>
              <a:gdLst>
                <a:gd name="T0" fmla="*/ 55 w 56"/>
                <a:gd name="T1" fmla="*/ 51 h 51"/>
                <a:gd name="T2" fmla="*/ 56 w 56"/>
                <a:gd name="T3" fmla="*/ 51 h 51"/>
                <a:gd name="T4" fmla="*/ 28 w 56"/>
                <a:gd name="T5" fmla="*/ 0 h 51"/>
                <a:gd name="T6" fmla="*/ 0 w 56"/>
                <a:gd name="T7" fmla="*/ 51 h 51"/>
                <a:gd name="T8" fmla="*/ 1 w 56"/>
                <a:gd name="T9" fmla="*/ 51 h 51"/>
                <a:gd name="T10" fmla="*/ 28 w 56"/>
                <a:gd name="T11" fmla="*/ 47 h 51"/>
                <a:gd name="T12" fmla="*/ 55 w 56"/>
                <a:gd name="T1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51">
                  <a:moveTo>
                    <a:pt x="55" y="51"/>
                  </a:moveTo>
                  <a:cubicBezTo>
                    <a:pt x="56" y="51"/>
                    <a:pt x="56" y="51"/>
                    <a:pt x="56" y="51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10" y="49"/>
                    <a:pt x="19" y="47"/>
                    <a:pt x="28" y="47"/>
                  </a:cubicBezTo>
                  <a:cubicBezTo>
                    <a:pt x="37" y="47"/>
                    <a:pt x="46" y="49"/>
                    <a:pt x="55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Freeform 190"/>
            <p:cNvSpPr/>
            <p:nvPr/>
          </p:nvSpPr>
          <p:spPr bwMode="auto">
            <a:xfrm>
              <a:off x="755651" y="4902200"/>
              <a:ext cx="49213" cy="52387"/>
            </a:xfrm>
            <a:custGeom>
              <a:avLst/>
              <a:gdLst>
                <a:gd name="T0" fmla="*/ 0 w 51"/>
                <a:gd name="T1" fmla="*/ 54 h 55"/>
                <a:gd name="T2" fmla="*/ 0 w 51"/>
                <a:gd name="T3" fmla="*/ 55 h 55"/>
                <a:gd name="T4" fmla="*/ 51 w 51"/>
                <a:gd name="T5" fmla="*/ 27 h 55"/>
                <a:gd name="T6" fmla="*/ 0 w 51"/>
                <a:gd name="T7" fmla="*/ 0 h 55"/>
                <a:gd name="T8" fmla="*/ 0 w 51"/>
                <a:gd name="T9" fmla="*/ 1 h 55"/>
                <a:gd name="T10" fmla="*/ 3 w 51"/>
                <a:gd name="T11" fmla="*/ 27 h 55"/>
                <a:gd name="T12" fmla="*/ 0 w 51"/>
                <a:gd name="T13" fmla="*/ 5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55">
                  <a:moveTo>
                    <a:pt x="0" y="54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9"/>
                    <a:pt x="3" y="18"/>
                    <a:pt x="3" y="27"/>
                  </a:cubicBezTo>
                  <a:cubicBezTo>
                    <a:pt x="3" y="37"/>
                    <a:pt x="2" y="46"/>
                    <a:pt x="0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Freeform 191"/>
            <p:cNvSpPr/>
            <p:nvPr/>
          </p:nvSpPr>
          <p:spPr bwMode="auto">
            <a:xfrm>
              <a:off x="711201" y="4832350"/>
              <a:ext cx="52388" cy="52387"/>
            </a:xfrm>
            <a:custGeom>
              <a:avLst/>
              <a:gdLst>
                <a:gd name="T0" fmla="*/ 37 w 55"/>
                <a:gd name="T1" fmla="*/ 52 h 54"/>
                <a:gd name="T2" fmla="*/ 40 w 55"/>
                <a:gd name="T3" fmla="*/ 54 h 54"/>
                <a:gd name="T4" fmla="*/ 55 w 55"/>
                <a:gd name="T5" fmla="*/ 0 h 54"/>
                <a:gd name="T6" fmla="*/ 0 w 55"/>
                <a:gd name="T7" fmla="*/ 15 h 54"/>
                <a:gd name="T8" fmla="*/ 2 w 55"/>
                <a:gd name="T9" fmla="*/ 17 h 54"/>
                <a:gd name="T10" fmla="*/ 37 w 55"/>
                <a:gd name="T11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" h="54">
                  <a:moveTo>
                    <a:pt x="37" y="52"/>
                  </a:moveTo>
                  <a:cubicBezTo>
                    <a:pt x="40" y="54"/>
                    <a:pt x="40" y="54"/>
                    <a:pt x="40" y="54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17" y="26"/>
                    <a:pt x="29" y="38"/>
                    <a:pt x="37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Freeform 192"/>
            <p:cNvSpPr/>
            <p:nvPr/>
          </p:nvSpPr>
          <p:spPr bwMode="auto">
            <a:xfrm>
              <a:off x="641351" y="5016500"/>
              <a:ext cx="52388" cy="49212"/>
            </a:xfrm>
            <a:custGeom>
              <a:avLst/>
              <a:gdLst>
                <a:gd name="T0" fmla="*/ 0 w 55"/>
                <a:gd name="T1" fmla="*/ 0 h 51"/>
                <a:gd name="T2" fmla="*/ 0 w 55"/>
                <a:gd name="T3" fmla="*/ 0 h 51"/>
                <a:gd name="T4" fmla="*/ 27 w 55"/>
                <a:gd name="T5" fmla="*/ 51 h 51"/>
                <a:gd name="T6" fmla="*/ 55 w 55"/>
                <a:gd name="T7" fmla="*/ 0 h 51"/>
                <a:gd name="T8" fmla="*/ 54 w 55"/>
                <a:gd name="T9" fmla="*/ 0 h 51"/>
                <a:gd name="T10" fmla="*/ 27 w 55"/>
                <a:gd name="T11" fmla="*/ 4 h 51"/>
                <a:gd name="T12" fmla="*/ 0 w 55"/>
                <a:gd name="T1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5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7" y="51"/>
                    <a:pt x="27" y="51"/>
                    <a:pt x="27" y="51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5" y="2"/>
                    <a:pt x="36" y="4"/>
                    <a:pt x="27" y="4"/>
                  </a:cubicBezTo>
                  <a:cubicBezTo>
                    <a:pt x="18" y="4"/>
                    <a:pt x="9" y="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Freeform 193"/>
            <p:cNvSpPr/>
            <p:nvPr/>
          </p:nvSpPr>
          <p:spPr bwMode="auto">
            <a:xfrm>
              <a:off x="530226" y="4902200"/>
              <a:ext cx="47625" cy="52387"/>
            </a:xfrm>
            <a:custGeom>
              <a:avLst/>
              <a:gdLst>
                <a:gd name="T0" fmla="*/ 51 w 51"/>
                <a:gd name="T1" fmla="*/ 0 h 55"/>
                <a:gd name="T2" fmla="*/ 51 w 51"/>
                <a:gd name="T3" fmla="*/ 0 h 55"/>
                <a:gd name="T4" fmla="*/ 0 w 51"/>
                <a:gd name="T5" fmla="*/ 27 h 55"/>
                <a:gd name="T6" fmla="*/ 51 w 51"/>
                <a:gd name="T7" fmla="*/ 55 h 55"/>
                <a:gd name="T8" fmla="*/ 51 w 51"/>
                <a:gd name="T9" fmla="*/ 55 h 55"/>
                <a:gd name="T10" fmla="*/ 47 w 51"/>
                <a:gd name="T11" fmla="*/ 27 h 55"/>
                <a:gd name="T12" fmla="*/ 51 w 51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55">
                  <a:moveTo>
                    <a:pt x="51" y="0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51" y="55"/>
                    <a:pt x="51" y="55"/>
                    <a:pt x="51" y="55"/>
                  </a:cubicBezTo>
                  <a:cubicBezTo>
                    <a:pt x="51" y="55"/>
                    <a:pt x="51" y="55"/>
                    <a:pt x="51" y="55"/>
                  </a:cubicBezTo>
                  <a:cubicBezTo>
                    <a:pt x="48" y="46"/>
                    <a:pt x="47" y="37"/>
                    <a:pt x="47" y="27"/>
                  </a:cubicBezTo>
                  <a:cubicBezTo>
                    <a:pt x="47" y="18"/>
                    <a:pt x="48" y="8"/>
                    <a:pt x="5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Freeform 194"/>
            <p:cNvSpPr/>
            <p:nvPr/>
          </p:nvSpPr>
          <p:spPr bwMode="auto">
            <a:xfrm>
              <a:off x="571501" y="4972050"/>
              <a:ext cx="50800" cy="52387"/>
            </a:xfrm>
            <a:custGeom>
              <a:avLst/>
              <a:gdLst>
                <a:gd name="T0" fmla="*/ 16 w 54"/>
                <a:gd name="T1" fmla="*/ 2 h 55"/>
                <a:gd name="T2" fmla="*/ 15 w 54"/>
                <a:gd name="T3" fmla="*/ 0 h 55"/>
                <a:gd name="T4" fmla="*/ 0 w 54"/>
                <a:gd name="T5" fmla="*/ 55 h 55"/>
                <a:gd name="T6" fmla="*/ 54 w 54"/>
                <a:gd name="T7" fmla="*/ 40 h 55"/>
                <a:gd name="T8" fmla="*/ 53 w 54"/>
                <a:gd name="T9" fmla="*/ 38 h 55"/>
                <a:gd name="T10" fmla="*/ 16 w 54"/>
                <a:gd name="T11" fmla="*/ 2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55">
                  <a:moveTo>
                    <a:pt x="16" y="2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38" y="29"/>
                    <a:pt x="25" y="17"/>
                    <a:pt x="16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Freeform 195"/>
            <p:cNvSpPr/>
            <p:nvPr/>
          </p:nvSpPr>
          <p:spPr bwMode="auto">
            <a:xfrm>
              <a:off x="711201" y="4972050"/>
              <a:ext cx="52388" cy="52387"/>
            </a:xfrm>
            <a:custGeom>
              <a:avLst/>
              <a:gdLst>
                <a:gd name="T0" fmla="*/ 38 w 55"/>
                <a:gd name="T1" fmla="*/ 2 h 55"/>
                <a:gd name="T2" fmla="*/ 2 w 55"/>
                <a:gd name="T3" fmla="*/ 38 h 55"/>
                <a:gd name="T4" fmla="*/ 0 w 55"/>
                <a:gd name="T5" fmla="*/ 40 h 55"/>
                <a:gd name="T6" fmla="*/ 55 w 55"/>
                <a:gd name="T7" fmla="*/ 55 h 55"/>
                <a:gd name="T8" fmla="*/ 40 w 55"/>
                <a:gd name="T9" fmla="*/ 0 h 55"/>
                <a:gd name="T10" fmla="*/ 38 w 55"/>
                <a:gd name="T11" fmla="*/ 2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" h="55">
                  <a:moveTo>
                    <a:pt x="38" y="2"/>
                  </a:moveTo>
                  <a:cubicBezTo>
                    <a:pt x="29" y="17"/>
                    <a:pt x="17" y="29"/>
                    <a:pt x="2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40" y="0"/>
                    <a:pt x="40" y="0"/>
                    <a:pt x="40" y="0"/>
                  </a:cubicBezTo>
                  <a:lnTo>
                    <a:pt x="38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Freeform 196"/>
            <p:cNvSpPr/>
            <p:nvPr/>
          </p:nvSpPr>
          <p:spPr bwMode="auto">
            <a:xfrm>
              <a:off x="569913" y="4832350"/>
              <a:ext cx="52388" cy="52387"/>
            </a:xfrm>
            <a:custGeom>
              <a:avLst/>
              <a:gdLst>
                <a:gd name="T0" fmla="*/ 54 w 55"/>
                <a:gd name="T1" fmla="*/ 17 h 54"/>
                <a:gd name="T2" fmla="*/ 55 w 55"/>
                <a:gd name="T3" fmla="*/ 15 h 54"/>
                <a:gd name="T4" fmla="*/ 0 w 55"/>
                <a:gd name="T5" fmla="*/ 0 h 54"/>
                <a:gd name="T6" fmla="*/ 16 w 55"/>
                <a:gd name="T7" fmla="*/ 54 h 54"/>
                <a:gd name="T8" fmla="*/ 17 w 55"/>
                <a:gd name="T9" fmla="*/ 53 h 54"/>
                <a:gd name="T10" fmla="*/ 54 w 55"/>
                <a:gd name="T11" fmla="*/ 1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" h="54">
                  <a:moveTo>
                    <a:pt x="54" y="17"/>
                  </a:moveTo>
                  <a:cubicBezTo>
                    <a:pt x="55" y="15"/>
                    <a:pt x="55" y="15"/>
                    <a:pt x="55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54"/>
                    <a:pt x="16" y="54"/>
                    <a:pt x="16" y="54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26" y="38"/>
                    <a:pt x="39" y="25"/>
                    <a:pt x="54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Oval 197"/>
            <p:cNvSpPr>
              <a:spLocks noChangeArrowheads="1"/>
            </p:cNvSpPr>
            <p:nvPr/>
          </p:nvSpPr>
          <p:spPr bwMode="auto">
            <a:xfrm>
              <a:off x="596901" y="4859338"/>
              <a:ext cx="138113" cy="13811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6398" name="矩形 16"/>
          <p:cNvSpPr/>
          <p:nvPr/>
        </p:nvSpPr>
        <p:spPr>
          <a:xfrm>
            <a:off x="4084955" y="2687955"/>
            <a:ext cx="4011295" cy="221043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p>
            <a:pPr algn="ctr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sz="1600" b="1" dirty="0">
                <a:solidFill>
                  <a:schemeClr val="bg1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Takeaways from this project </a:t>
            </a:r>
            <a:endParaRPr sz="1200" b="1" dirty="0">
              <a:solidFill>
                <a:schemeClr val="bg1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  <a:p>
            <a:pPr algn="ctr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sz="1200" b="1" dirty="0">
                <a:solidFill>
                  <a:schemeClr val="bg1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1. </a:t>
            </a:r>
            <a:r>
              <a:rPr lang="en-US" sz="1200" b="1" dirty="0">
                <a:solidFill>
                  <a:schemeClr val="bg1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Design the sql to help me get the data I need for the transaction process</a:t>
            </a:r>
            <a:endParaRPr lang="en-US" sz="1200" b="1" dirty="0">
              <a:solidFill>
                <a:schemeClr val="bg1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  <a:p>
            <a:pPr algn="ctr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sz="1200" b="1" dirty="0">
                <a:solidFill>
                  <a:schemeClr val="bg1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2. </a:t>
            </a:r>
            <a:r>
              <a:rPr lang="en-US" sz="1200" b="1" dirty="0">
                <a:solidFill>
                  <a:schemeClr val="bg1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Optimize the sql (Performance Tuning) to improve the efficiency of data acquisition.</a:t>
            </a:r>
            <a:endParaRPr lang="en-US" sz="1200" b="1" dirty="0">
              <a:solidFill>
                <a:schemeClr val="bg1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  <a:p>
            <a:pPr algn="ctr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sz="1200" b="1" dirty="0">
                <a:solidFill>
                  <a:schemeClr val="bg1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Use store procedure to improve the efficiency of data updating.</a:t>
            </a:r>
            <a:endParaRPr lang="en-US" sz="1200" b="1" dirty="0">
              <a:solidFill>
                <a:schemeClr val="bg1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  <a:p>
            <a:pPr algn="ctr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sz="1200" b="1" dirty="0">
                <a:solidFill>
                  <a:schemeClr val="bg1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3. Design a data warehouse to fulfill the historical data requirements of the trading system.</a:t>
            </a:r>
            <a:endParaRPr lang="en-US" sz="1200" b="1" dirty="0">
              <a:solidFill>
                <a:schemeClr val="bg1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矩形 17"/>
          <p:cNvSpPr>
            <a:spLocks noChangeArrowheads="1"/>
          </p:cNvSpPr>
          <p:nvPr/>
        </p:nvSpPr>
        <p:spPr bwMode="auto">
          <a:xfrm>
            <a:off x="1225550" y="5471795"/>
            <a:ext cx="10179685" cy="1230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What’s Next: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1. For more time-critical data consider streaming data processing (e.g. kafka)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2. Continuing to refine my trading system (strategy part and backtesting system)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697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9698" name="组合 4"/>
          <p:cNvGrpSpPr/>
          <p:nvPr/>
        </p:nvGrpSpPr>
        <p:grpSpPr>
          <a:xfrm>
            <a:off x="3167381" y="2217396"/>
            <a:ext cx="6356350" cy="2300629"/>
            <a:chOff x="3333663" y="1980069"/>
            <a:chExt cx="5850732" cy="2116786"/>
          </a:xfrm>
        </p:grpSpPr>
        <p:grpSp>
          <p:nvGrpSpPr>
            <p:cNvPr id="29699" name="组合 5"/>
            <p:cNvGrpSpPr/>
            <p:nvPr/>
          </p:nvGrpSpPr>
          <p:grpSpPr>
            <a:xfrm>
              <a:off x="3590925" y="1980069"/>
              <a:ext cx="5010150" cy="679906"/>
              <a:chOff x="4324350" y="2295525"/>
              <a:chExt cx="3733800" cy="679906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704" name="组合 6"/>
            <p:cNvGrpSpPr/>
            <p:nvPr/>
          </p:nvGrpSpPr>
          <p:grpSpPr>
            <a:xfrm flipH="1" flipV="1">
              <a:off x="3457574" y="3370824"/>
              <a:ext cx="4951785" cy="726031"/>
              <a:chOff x="4324350" y="2295525"/>
              <a:chExt cx="3733800" cy="679906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709" name="文本框 7"/>
            <p:cNvSpPr txBox="1"/>
            <p:nvPr/>
          </p:nvSpPr>
          <p:spPr>
            <a:xfrm>
              <a:off x="3333663" y="2054854"/>
              <a:ext cx="5850732" cy="17124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defTabSz="914400"/>
              <a:r>
                <a:rPr lang="en-US" altLang="zh-CN" sz="11500" i="1" dirty="0">
                  <a:solidFill>
                    <a:srgbClr val="404040"/>
                  </a:solidFill>
                  <a:ea typeface="Calibri" panose="020F0502020204030204" pitchFamily="34" charset="0"/>
                </a:rPr>
                <a:t>THANKS</a:t>
              </a:r>
              <a:endParaRPr lang="en-US" altLang="zh-CN" sz="11500" i="1" dirty="0">
                <a:solidFill>
                  <a:srgbClr val="404040"/>
                </a:solidFill>
                <a:ea typeface="Calibri" panose="020F0502020204030204" pitchFamily="34" charset="0"/>
              </a:endParaRPr>
            </a:p>
          </p:txBody>
        </p:sp>
      </p:grp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3967</Words>
  <Application>WPS 演示</Application>
  <PresentationFormat>宽屏</PresentationFormat>
  <Paragraphs>160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Calibri</vt:lpstr>
      <vt:lpstr>Helvetica Neue</vt:lpstr>
      <vt:lpstr>宋体-简</vt:lpstr>
      <vt:lpstr>Impact</vt:lpstr>
      <vt:lpstr>微软雅黑</vt:lpstr>
      <vt:lpstr>汉仪旗黑</vt:lpstr>
      <vt:lpstr>宋体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ZhuLong</dc:creator>
  <cp:lastModifiedBy>yuzhuoran</cp:lastModifiedBy>
  <cp:revision>129</cp:revision>
  <dcterms:created xsi:type="dcterms:W3CDTF">2023-12-03T21:18:11Z</dcterms:created>
  <dcterms:modified xsi:type="dcterms:W3CDTF">2023-12-03T21:18:11Z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2052-5.6.0.8082</vt:lpwstr>
  </property>
</Properties>
</file>